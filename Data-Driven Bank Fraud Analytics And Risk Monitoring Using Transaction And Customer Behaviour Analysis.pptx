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544" r:id="rId3"/>
    <p:sldId id="554" r:id="rId4"/>
    <p:sldId id="541" r:id="rId5"/>
    <p:sldId id="2539" r:id="rId6"/>
    <p:sldId id="2552" r:id="rId7"/>
    <p:sldId id="2553" r:id="rId8"/>
    <p:sldId id="2535" r:id="rId9"/>
    <p:sldId id="2554" r:id="rId10"/>
    <p:sldId id="2556" r:id="rId11"/>
    <p:sldId id="2557" r:id="rId12"/>
    <p:sldId id="2558" r:id="rId13"/>
    <p:sldId id="2555" r:id="rId14"/>
    <p:sldId id="2559" r:id="rId15"/>
    <p:sldId id="2560" r:id="rId16"/>
    <p:sldId id="2561" r:id="rId17"/>
    <p:sldId id="2562" r:id="rId18"/>
    <p:sldId id="2563" r:id="rId19"/>
    <p:sldId id="2564" r:id="rId20"/>
    <p:sldId id="2551" r:id="rId21"/>
    <p:sldId id="2540" r:id="rId22"/>
    <p:sldId id="2565" r:id="rId23"/>
    <p:sldId id="2177" r:id="rId24"/>
    <p:sldId id="2534" r:id="rId25"/>
  </p:sldIdLst>
  <p:sldSz cx="9144000" cy="5143500" type="screen16x9"/>
  <p:notesSz cx="6858000" cy="9144000"/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97" userDrawn="1">
          <p15:clr>
            <a:srgbClr val="A4A3A4"/>
          </p15:clr>
        </p15:guide>
        <p15:guide id="2" pos="28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4B4E"/>
    <a:srgbClr val="E6E6E6"/>
    <a:srgbClr val="BD0F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 showGuides="1">
      <p:cViewPr>
        <p:scale>
          <a:sx n="80" d="100"/>
          <a:sy n="80" d="100"/>
        </p:scale>
        <p:origin x="1746" y="1026"/>
      </p:cViewPr>
      <p:guideLst>
        <p:guide orient="horz" pos="1597"/>
        <p:guide pos="28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AD4A3340-C542-46E3-BB6B-1E3F28D53E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93EAA4AF-B0AE-42C7-9AD8-C74E868F580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/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98" b="1878"/>
          <a:stretch>
            <a:fillRect/>
          </a:stretch>
        </p:blipFill>
        <p:spPr>
          <a:xfrm>
            <a:off x="4916907" y="0"/>
            <a:ext cx="4227094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/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208" b="1878"/>
          <a:stretch>
            <a:fillRect/>
          </a:stretch>
        </p:blipFill>
        <p:spPr>
          <a:xfrm flipH="1">
            <a:off x="0" y="0"/>
            <a:ext cx="3112438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-1" y="0"/>
            <a:ext cx="9144001" cy="5143500"/>
            <a:chOff x="-220064" y="0"/>
            <a:chExt cx="9144001" cy="514350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2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220"/>
            <a:stretch>
              <a:fillRect/>
            </a:stretch>
          </p:blipFill>
          <p:spPr>
            <a:xfrm flipH="1">
              <a:off x="7176018" y="0"/>
              <a:ext cx="1747919" cy="5143500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2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220"/>
            <a:stretch>
              <a:fillRect/>
            </a:stretch>
          </p:blipFill>
          <p:spPr>
            <a:xfrm>
              <a:off x="-220064" y="0"/>
              <a:ext cx="1747919" cy="514350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431801" y="1019148"/>
            <a:ext cx="4127222" cy="2323378"/>
          </a:xfrm>
          <a:prstGeom prst="rect">
            <a:avLst/>
          </a:prstGeom>
          <a:solidFill>
            <a:schemeClr val="accent6"/>
          </a:solidFill>
        </p:spPr>
        <p:txBody>
          <a:bodyPr anchor="ctr" anchorCtr="1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584979" y="2180837"/>
            <a:ext cx="4127222" cy="2323378"/>
          </a:xfrm>
          <a:prstGeom prst="rect">
            <a:avLst/>
          </a:prstGeom>
          <a:solidFill>
            <a:schemeClr val="accent6"/>
          </a:solidFill>
        </p:spPr>
        <p:txBody>
          <a:bodyPr anchor="ctr" anchorCtr="1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图片占位符 16"/>
          <p:cNvSpPr>
            <a:spLocks noGrp="1"/>
          </p:cNvSpPr>
          <p:nvPr>
            <p:ph type="pic" sz="quarter" idx="14"/>
          </p:nvPr>
        </p:nvSpPr>
        <p:spPr>
          <a:xfrm>
            <a:off x="6647004" y="771526"/>
            <a:ext cx="2070276" cy="1982445"/>
          </a:xfrm>
          <a:custGeom>
            <a:avLst/>
            <a:gdLst>
              <a:gd name="connsiteX0" fmla="*/ 0 w 2070276"/>
              <a:gd name="connsiteY0" fmla="*/ 0 h 1982445"/>
              <a:gd name="connsiteX1" fmla="*/ 2070276 w 2070276"/>
              <a:gd name="connsiteY1" fmla="*/ 0 h 1982445"/>
              <a:gd name="connsiteX2" fmla="*/ 2070276 w 2070276"/>
              <a:gd name="connsiteY2" fmla="*/ 1982445 h 1982445"/>
              <a:gd name="connsiteX3" fmla="*/ 0 w 2070276"/>
              <a:gd name="connsiteY3" fmla="*/ 1982445 h 198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70276" h="1982445">
                <a:moveTo>
                  <a:pt x="0" y="0"/>
                </a:moveTo>
                <a:lnTo>
                  <a:pt x="2070276" y="0"/>
                </a:lnTo>
                <a:lnTo>
                  <a:pt x="2070276" y="1982445"/>
                </a:lnTo>
                <a:lnTo>
                  <a:pt x="0" y="1982445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anchor="ctr" anchorCtr="1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3"/>
          </p:nvPr>
        </p:nvSpPr>
        <p:spPr>
          <a:xfrm>
            <a:off x="4574540" y="2749894"/>
            <a:ext cx="2070276" cy="1982445"/>
          </a:xfrm>
          <a:custGeom>
            <a:avLst/>
            <a:gdLst>
              <a:gd name="connsiteX0" fmla="*/ 0 w 2070276"/>
              <a:gd name="connsiteY0" fmla="*/ 0 h 1982445"/>
              <a:gd name="connsiteX1" fmla="*/ 2070276 w 2070276"/>
              <a:gd name="connsiteY1" fmla="*/ 0 h 1982445"/>
              <a:gd name="connsiteX2" fmla="*/ 2070276 w 2070276"/>
              <a:gd name="connsiteY2" fmla="*/ 1982445 h 1982445"/>
              <a:gd name="connsiteX3" fmla="*/ 0 w 2070276"/>
              <a:gd name="connsiteY3" fmla="*/ 1982445 h 198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70276" h="1982445">
                <a:moveTo>
                  <a:pt x="0" y="0"/>
                </a:moveTo>
                <a:lnTo>
                  <a:pt x="2070276" y="0"/>
                </a:lnTo>
                <a:lnTo>
                  <a:pt x="2070276" y="1982445"/>
                </a:lnTo>
                <a:lnTo>
                  <a:pt x="0" y="1982445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anchor="ctr" anchorCtr="1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2"/>
          </p:nvPr>
        </p:nvSpPr>
        <p:spPr>
          <a:xfrm>
            <a:off x="2504263" y="771526"/>
            <a:ext cx="2070276" cy="1982445"/>
          </a:xfrm>
          <a:custGeom>
            <a:avLst/>
            <a:gdLst>
              <a:gd name="connsiteX0" fmla="*/ 0 w 2070276"/>
              <a:gd name="connsiteY0" fmla="*/ 0 h 1982445"/>
              <a:gd name="connsiteX1" fmla="*/ 2070276 w 2070276"/>
              <a:gd name="connsiteY1" fmla="*/ 0 h 1982445"/>
              <a:gd name="connsiteX2" fmla="*/ 2070276 w 2070276"/>
              <a:gd name="connsiteY2" fmla="*/ 1982445 h 1982445"/>
              <a:gd name="connsiteX3" fmla="*/ 0 w 2070276"/>
              <a:gd name="connsiteY3" fmla="*/ 1982445 h 198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70276" h="1982445">
                <a:moveTo>
                  <a:pt x="0" y="0"/>
                </a:moveTo>
                <a:lnTo>
                  <a:pt x="2070276" y="0"/>
                </a:lnTo>
                <a:lnTo>
                  <a:pt x="2070276" y="1982445"/>
                </a:lnTo>
                <a:lnTo>
                  <a:pt x="0" y="1982445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anchor="ctr" anchorCtr="1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431799" y="2749894"/>
            <a:ext cx="2070276" cy="1982445"/>
          </a:xfrm>
          <a:custGeom>
            <a:avLst/>
            <a:gdLst>
              <a:gd name="connsiteX0" fmla="*/ 0 w 2070276"/>
              <a:gd name="connsiteY0" fmla="*/ 0 h 1982445"/>
              <a:gd name="connsiteX1" fmla="*/ 2070276 w 2070276"/>
              <a:gd name="connsiteY1" fmla="*/ 0 h 1982445"/>
              <a:gd name="connsiteX2" fmla="*/ 2070276 w 2070276"/>
              <a:gd name="connsiteY2" fmla="*/ 1982445 h 1982445"/>
              <a:gd name="connsiteX3" fmla="*/ 0 w 2070276"/>
              <a:gd name="connsiteY3" fmla="*/ 1982445 h 198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70276" h="1982445">
                <a:moveTo>
                  <a:pt x="0" y="0"/>
                </a:moveTo>
                <a:lnTo>
                  <a:pt x="2070276" y="0"/>
                </a:lnTo>
                <a:lnTo>
                  <a:pt x="2070276" y="1982445"/>
                </a:lnTo>
                <a:lnTo>
                  <a:pt x="0" y="1982445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anchor="ctr" anchorCtr="1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431802" y="1146477"/>
            <a:ext cx="1907362" cy="2234675"/>
          </a:xfrm>
          <a:prstGeom prst="rect">
            <a:avLst/>
          </a:prstGeom>
          <a:solidFill>
            <a:schemeClr val="accent6"/>
          </a:solidFill>
        </p:spPr>
        <p:txBody>
          <a:bodyPr anchor="ctr" anchorCtr="1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2556147" y="1146478"/>
            <a:ext cx="1907362" cy="2234674"/>
          </a:xfrm>
          <a:prstGeom prst="rect">
            <a:avLst/>
          </a:prstGeom>
          <a:solidFill>
            <a:schemeClr val="accent6"/>
          </a:solidFill>
        </p:spPr>
        <p:txBody>
          <a:bodyPr anchor="ctr" anchorCtr="1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680492" y="1146478"/>
            <a:ext cx="1907362" cy="2234674"/>
          </a:xfrm>
          <a:prstGeom prst="rect">
            <a:avLst/>
          </a:prstGeom>
          <a:solidFill>
            <a:schemeClr val="accent6"/>
          </a:solidFill>
        </p:spPr>
        <p:txBody>
          <a:bodyPr anchor="ctr" anchorCtr="1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6804836" y="1146478"/>
            <a:ext cx="1907362" cy="2234674"/>
          </a:xfrm>
          <a:prstGeom prst="rect">
            <a:avLst/>
          </a:prstGeom>
          <a:solidFill>
            <a:schemeClr val="accent6"/>
          </a:solidFill>
        </p:spPr>
        <p:txBody>
          <a:bodyPr anchor="ctr" anchorCtr="1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1"/>
          </p:nvPr>
        </p:nvSpPr>
        <p:spPr>
          <a:xfrm>
            <a:off x="4160305" y="1022684"/>
            <a:ext cx="4578962" cy="3838546"/>
          </a:xfrm>
          <a:prstGeom prst="rect">
            <a:avLst/>
          </a:prstGeom>
          <a:solidFill>
            <a:schemeClr val="accent6"/>
          </a:solidFill>
        </p:spPr>
        <p:txBody>
          <a:bodyPr wrap="square" anchor="ctr" anchorCtr="1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206612"/>
            <a:ext cx="327340" cy="659656"/>
          </a:xfrm>
          <a:prstGeom prst="rect">
            <a:avLst/>
          </a:prstGeom>
          <a:solidFill>
            <a:srgbClr val="494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slideLayout" Target="../slideLayouts/slideLayout3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3" Type="http://schemas.openxmlformats.org/officeDocument/2006/relationships/slideLayout" Target="../slideLayouts/slideLayout5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549910" y="919480"/>
            <a:ext cx="4720590" cy="26263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10000"/>
              </a:lnSpc>
            </a:pPr>
            <a:r>
              <a:rPr lang="en-US" altLang="en-US" sz="28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cs typeface="+mn-lt"/>
                <a:sym typeface="+mn-ea"/>
              </a:rPr>
              <a:t>D</a:t>
            </a:r>
            <a:r>
              <a:rPr lang="en-IN" altLang="en-US" sz="28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cs typeface="+mn-lt"/>
                <a:sym typeface="+mn-ea"/>
              </a:rPr>
              <a:t>ata</a:t>
            </a:r>
            <a:r>
              <a:rPr lang="en-US" altLang="en-US" sz="28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cs typeface="+mn-lt"/>
                <a:sym typeface="+mn-ea"/>
              </a:rPr>
              <a:t>-D</a:t>
            </a:r>
            <a:r>
              <a:rPr lang="en-IN" altLang="en-US" sz="28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cs typeface="+mn-lt"/>
                <a:sym typeface="+mn-ea"/>
              </a:rPr>
              <a:t>riven</a:t>
            </a:r>
            <a:r>
              <a:rPr lang="en-US" altLang="en-US" sz="28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cs typeface="+mn-lt"/>
                <a:sym typeface="+mn-ea"/>
              </a:rPr>
              <a:t> B</a:t>
            </a:r>
            <a:r>
              <a:rPr lang="en-IN" altLang="en-US" sz="28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cs typeface="+mn-lt"/>
                <a:sym typeface="+mn-ea"/>
              </a:rPr>
              <a:t>ank</a:t>
            </a:r>
            <a:r>
              <a:rPr lang="en-US" altLang="en-US" sz="28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cs typeface="+mn-lt"/>
                <a:sym typeface="+mn-ea"/>
              </a:rPr>
              <a:t> F</a:t>
            </a:r>
            <a:r>
              <a:rPr lang="en-IN" altLang="en-US" sz="28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cs typeface="+mn-lt"/>
                <a:sym typeface="+mn-ea"/>
              </a:rPr>
              <a:t>raud</a:t>
            </a:r>
            <a:r>
              <a:rPr lang="en-US" altLang="en-US" sz="28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cs typeface="+mn-lt"/>
                <a:sym typeface="+mn-ea"/>
              </a:rPr>
              <a:t> A</a:t>
            </a:r>
            <a:r>
              <a:rPr lang="en-IN" altLang="en-US" sz="28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cs typeface="+mn-lt"/>
                <a:sym typeface="+mn-ea"/>
              </a:rPr>
              <a:t>nalytics</a:t>
            </a:r>
            <a:r>
              <a:rPr lang="en-US" altLang="en-US" sz="28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cs typeface="+mn-lt"/>
                <a:sym typeface="+mn-ea"/>
              </a:rPr>
              <a:t> A</a:t>
            </a:r>
            <a:r>
              <a:rPr lang="en-IN" altLang="en-US" sz="28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cs typeface="+mn-lt"/>
                <a:sym typeface="+mn-ea"/>
              </a:rPr>
              <a:t>nd </a:t>
            </a:r>
            <a:r>
              <a:rPr lang="en-US" altLang="en-US" sz="28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cs typeface="+mn-lt"/>
                <a:sym typeface="+mn-ea"/>
              </a:rPr>
              <a:t>R</a:t>
            </a:r>
            <a:r>
              <a:rPr lang="en-IN" altLang="en-US" sz="28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cs typeface="+mn-lt"/>
                <a:sym typeface="+mn-ea"/>
              </a:rPr>
              <a:t>isk</a:t>
            </a:r>
            <a:r>
              <a:rPr lang="en-US" altLang="en-US" sz="28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cs typeface="+mn-lt"/>
                <a:sym typeface="+mn-ea"/>
              </a:rPr>
              <a:t>       M</a:t>
            </a:r>
            <a:r>
              <a:rPr lang="en-IN" altLang="en-US" sz="28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cs typeface="+mn-lt"/>
                <a:sym typeface="+mn-ea"/>
              </a:rPr>
              <a:t>onitoring</a:t>
            </a:r>
            <a:r>
              <a:rPr lang="en-US" altLang="en-US" sz="28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cs typeface="+mn-lt"/>
                <a:sym typeface="+mn-ea"/>
              </a:rPr>
              <a:t> U</a:t>
            </a:r>
            <a:r>
              <a:rPr lang="en-IN" altLang="en-US" sz="28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cs typeface="+mn-lt"/>
                <a:sym typeface="+mn-ea"/>
              </a:rPr>
              <a:t>sing</a:t>
            </a:r>
            <a:r>
              <a:rPr lang="en-US" altLang="en-US" sz="28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cs typeface="+mn-lt"/>
                <a:sym typeface="+mn-ea"/>
              </a:rPr>
              <a:t>         T</a:t>
            </a:r>
            <a:r>
              <a:rPr lang="en-IN" altLang="en-US" sz="28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cs typeface="+mn-lt"/>
                <a:sym typeface="+mn-ea"/>
              </a:rPr>
              <a:t>ransaction</a:t>
            </a:r>
            <a:r>
              <a:rPr lang="en-US" altLang="en-US" sz="28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cs typeface="+mn-lt"/>
                <a:sym typeface="+mn-ea"/>
              </a:rPr>
              <a:t> A</a:t>
            </a:r>
            <a:r>
              <a:rPr lang="en-IN" altLang="en-US" sz="28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cs typeface="+mn-lt"/>
                <a:sym typeface="+mn-ea"/>
              </a:rPr>
              <a:t>nd</a:t>
            </a:r>
            <a:r>
              <a:rPr lang="en-US" altLang="en-US" sz="28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cs typeface="+mn-lt"/>
                <a:sym typeface="+mn-ea"/>
              </a:rPr>
              <a:t> C</a:t>
            </a:r>
            <a:r>
              <a:rPr lang="en-IN" altLang="en-US" sz="28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cs typeface="+mn-lt"/>
                <a:sym typeface="+mn-ea"/>
              </a:rPr>
              <a:t>ustomer</a:t>
            </a:r>
            <a:r>
              <a:rPr lang="en-US" altLang="en-US" sz="28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cs typeface="+mn-lt"/>
                <a:sym typeface="+mn-ea"/>
              </a:rPr>
              <a:t> B</a:t>
            </a:r>
            <a:r>
              <a:rPr lang="en-IN" altLang="en-US" sz="28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cs typeface="+mn-lt"/>
                <a:sym typeface="+mn-ea"/>
              </a:rPr>
              <a:t>ehaviour</a:t>
            </a:r>
            <a:r>
              <a:rPr lang="en-US" altLang="en-US" sz="28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cs typeface="+mn-lt"/>
                <a:sym typeface="+mn-ea"/>
              </a:rPr>
              <a:t> A</a:t>
            </a:r>
            <a:r>
              <a:rPr lang="en-IN" altLang="en-US" sz="28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cs typeface="+mn-lt"/>
                <a:sym typeface="+mn-ea"/>
              </a:rPr>
              <a:t>nalysis</a:t>
            </a:r>
            <a:r>
              <a:rPr lang="en-US" altLang="en-US" sz="28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cs typeface="+mn-lt"/>
                <a:sym typeface="+mn-ea"/>
              </a:rPr>
              <a:t> </a:t>
            </a:r>
            <a:r>
              <a:rPr lang="en-US" altLang="en-US" sz="24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sym typeface="+mn-ea"/>
              </a:rPr>
              <a:t>at </a:t>
            </a:r>
            <a:r>
              <a:rPr lang="en-US" altLang="en-US" sz="2400" i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sym typeface="+mn-ea"/>
              </a:rPr>
              <a:t>Quest Innovative Solutions</a:t>
            </a:r>
            <a:r>
              <a:rPr lang="en-IN" altLang="en-US" sz="2400" i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sym typeface="+mn-ea"/>
              </a:rPr>
              <a:t> Pvt Ltd, Kochi</a:t>
            </a:r>
            <a:endParaRPr lang="en-IN" altLang="en-US" sz="2400" i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891405" y="3775710"/>
            <a:ext cx="21361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1600" b="1">
                <a:solidFill>
                  <a:schemeClr val="accent2"/>
                </a:solidFill>
              </a:rPr>
              <a:t>BY</a:t>
            </a:r>
            <a:endParaRPr lang="en-IN" altLang="en-US" sz="1600" b="1">
              <a:solidFill>
                <a:schemeClr val="accent2"/>
              </a:solidFill>
            </a:endParaRPr>
          </a:p>
          <a:p>
            <a:r>
              <a:rPr lang="en-IN" altLang="en-US" sz="1600" b="1">
                <a:solidFill>
                  <a:schemeClr val="accent2"/>
                </a:solidFill>
              </a:rPr>
              <a:t>ABHISHA JL</a:t>
            </a:r>
            <a:endParaRPr lang="en-IN" altLang="en-US" sz="1600" b="1">
              <a:solidFill>
                <a:schemeClr val="accent2"/>
              </a:solidFill>
            </a:endParaRPr>
          </a:p>
          <a:p>
            <a:r>
              <a:rPr lang="en-IN" altLang="en-US" sz="1600" b="1">
                <a:solidFill>
                  <a:schemeClr val="accent2"/>
                </a:solidFill>
              </a:rPr>
              <a:t>Guide: Mrs. Rohini</a:t>
            </a:r>
            <a:endParaRPr lang="en-IN" altLang="en-US" sz="1600"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菱形 20"/>
          <p:cNvSpPr/>
          <p:nvPr/>
        </p:nvSpPr>
        <p:spPr>
          <a:xfrm>
            <a:off x="62865" y="1463040"/>
            <a:ext cx="2008505" cy="2092960"/>
          </a:xfrm>
          <a:prstGeom prst="diamond">
            <a:avLst/>
          </a:prstGeom>
          <a:solidFill>
            <a:srgbClr val="494B4E"/>
          </a:solidFill>
          <a:ln>
            <a:noFill/>
          </a:ln>
          <a:effectLst>
            <a:outerShdw blurRad="431800" sx="104000" sy="104000" algn="ctr" rotWithShape="0">
              <a:schemeClr val="tx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pitchFamily="34" charset="0"/>
            </a:endParaRPr>
          </a:p>
        </p:txBody>
      </p:sp>
      <p:sp>
        <p:nvSpPr>
          <p:cNvPr id="70" name="矩形 69"/>
          <p:cNvSpPr/>
          <p:nvPr>
            <p:custDataLst>
              <p:tags r:id="rId1"/>
            </p:custDataLst>
          </p:nvPr>
        </p:nvSpPr>
        <p:spPr>
          <a:xfrm>
            <a:off x="2772410" y="313055"/>
            <a:ext cx="6237605" cy="660400"/>
          </a:xfrm>
          <a:prstGeom prst="rect">
            <a:avLst/>
          </a:prstGeom>
        </p:spPr>
        <p:txBody>
          <a:bodyPr wrap="square" anchor="t" anchorCtr="0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l">
              <a:lnSpc>
                <a:spcPct val="90000"/>
              </a:lnSpc>
            </a:pPr>
            <a:r>
              <a:rPr lang="en-US" altLang="en-US" sz="1600" dirty="0">
                <a:solidFill>
                  <a:schemeClr val="accent3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Banking transactions have increased significantly with the growth of digital banking and online payments.</a:t>
            </a:r>
            <a:endParaRPr lang="en-US" altLang="en-US" sz="1600" dirty="0">
              <a:solidFill>
                <a:schemeClr val="accent3"/>
              </a:solidFill>
              <a:effectLst/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  <a:p>
            <a:pPr algn="l">
              <a:lnSpc>
                <a:spcPct val="90000"/>
              </a:lnSpc>
            </a:pPr>
            <a:endParaRPr lang="en-US" altLang="en-US" sz="1600" dirty="0">
              <a:solidFill>
                <a:schemeClr val="accent3"/>
              </a:solidFill>
              <a:effectLst/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sp>
        <p:nvSpPr>
          <p:cNvPr id="82" name="菱形 81"/>
          <p:cNvSpPr/>
          <p:nvPr>
            <p:custDataLst>
              <p:tags r:id="rId2"/>
            </p:custDataLst>
          </p:nvPr>
        </p:nvSpPr>
        <p:spPr>
          <a:xfrm>
            <a:off x="2071370" y="282575"/>
            <a:ext cx="654685" cy="633730"/>
          </a:xfrm>
          <a:prstGeom prst="diamond">
            <a:avLst/>
          </a:prstGeom>
          <a:solidFill>
            <a:srgbClr val="494B4E"/>
          </a:solidFill>
          <a:ln>
            <a:noFill/>
          </a:ln>
          <a:effectLst>
            <a:outerShdw blurRad="431800" sx="104000" sy="104000" algn="ctr" rotWithShape="0">
              <a:schemeClr val="tx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altLang="zh-CN" dirty="0">
                <a:ea typeface="Calibri" panose="020F0502020204030204" pitchFamily="34" charset="0"/>
                <a:sym typeface="+mn-lt"/>
              </a:rPr>
              <a:t>1</a:t>
            </a:r>
            <a:endParaRPr lang="en-IN" altLang="zh-CN" dirty="0">
              <a:ea typeface="Calibri" panose="020F0502020204030204" pitchFamily="34" charset="0"/>
              <a:sym typeface="+mn-lt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24155" y="1998345"/>
            <a:ext cx="1847850" cy="10541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r>
              <a:rPr lang="en-IN" altLang="en-US" sz="1800"/>
              <a:t> </a:t>
            </a:r>
            <a:r>
              <a:rPr lang="en-IN" altLang="en-US" sz="1800" b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INTRODUCTION</a:t>
            </a:r>
            <a:endParaRPr lang="en-IN" altLang="en-US" sz="1800" b="1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7" name="菱形 81"/>
          <p:cNvSpPr/>
          <p:nvPr>
            <p:custDataLst>
              <p:tags r:id="rId3"/>
            </p:custDataLst>
          </p:nvPr>
        </p:nvSpPr>
        <p:spPr>
          <a:xfrm>
            <a:off x="2071370" y="1259840"/>
            <a:ext cx="654685" cy="633730"/>
          </a:xfrm>
          <a:prstGeom prst="diamond">
            <a:avLst/>
          </a:prstGeom>
          <a:solidFill>
            <a:srgbClr val="494B4E"/>
          </a:solidFill>
          <a:ln>
            <a:noFill/>
          </a:ln>
          <a:effectLst>
            <a:outerShdw blurRad="431800" sx="104000" sy="104000" algn="ctr" rotWithShape="0">
              <a:schemeClr val="tx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altLang="zh-CN" dirty="0">
                <a:ea typeface="Calibri" panose="020F0502020204030204" pitchFamily="34" charset="0"/>
                <a:sym typeface="+mn-lt"/>
              </a:rPr>
              <a:t>2</a:t>
            </a:r>
            <a:endParaRPr lang="en-IN" altLang="zh-CN" dirty="0">
              <a:ea typeface="Calibri" panose="020F0502020204030204" pitchFamily="34" charset="0"/>
              <a:sym typeface="+mn-lt"/>
            </a:endParaRPr>
          </a:p>
        </p:txBody>
      </p:sp>
      <p:sp>
        <p:nvSpPr>
          <p:cNvPr id="8" name="菱形 81"/>
          <p:cNvSpPr/>
          <p:nvPr>
            <p:custDataLst>
              <p:tags r:id="rId4"/>
            </p:custDataLst>
          </p:nvPr>
        </p:nvSpPr>
        <p:spPr>
          <a:xfrm>
            <a:off x="2071370" y="2199640"/>
            <a:ext cx="654685" cy="633730"/>
          </a:xfrm>
          <a:prstGeom prst="diamond">
            <a:avLst/>
          </a:prstGeom>
          <a:solidFill>
            <a:srgbClr val="494B4E"/>
          </a:solidFill>
          <a:ln>
            <a:noFill/>
          </a:ln>
          <a:effectLst>
            <a:outerShdw blurRad="431800" sx="104000" sy="104000" algn="ctr" rotWithShape="0">
              <a:schemeClr val="tx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altLang="zh-CN" dirty="0">
                <a:ea typeface="Calibri" panose="020F0502020204030204" pitchFamily="34" charset="0"/>
                <a:sym typeface="+mn-lt"/>
              </a:rPr>
              <a:t>3</a:t>
            </a:r>
            <a:endParaRPr lang="en-IN" altLang="zh-CN" dirty="0">
              <a:ea typeface="Calibri" panose="020F0502020204030204" pitchFamily="34" charset="0"/>
              <a:sym typeface="+mn-lt"/>
            </a:endParaRPr>
          </a:p>
        </p:txBody>
      </p:sp>
      <p:sp>
        <p:nvSpPr>
          <p:cNvPr id="9" name="菱形 81"/>
          <p:cNvSpPr/>
          <p:nvPr>
            <p:custDataLst>
              <p:tags r:id="rId5"/>
            </p:custDataLst>
          </p:nvPr>
        </p:nvSpPr>
        <p:spPr>
          <a:xfrm>
            <a:off x="2071370" y="3157855"/>
            <a:ext cx="654685" cy="633730"/>
          </a:xfrm>
          <a:prstGeom prst="diamond">
            <a:avLst/>
          </a:prstGeom>
          <a:solidFill>
            <a:srgbClr val="494B4E"/>
          </a:solidFill>
          <a:ln>
            <a:noFill/>
          </a:ln>
          <a:effectLst>
            <a:outerShdw blurRad="431800" sx="104000" sy="104000" algn="ctr" rotWithShape="0">
              <a:schemeClr val="tx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altLang="en-US" dirty="0">
                <a:ea typeface="Calibri" panose="020F0502020204030204" pitchFamily="34" charset="0"/>
                <a:sym typeface="+mn-lt"/>
              </a:rPr>
              <a:t>4</a:t>
            </a:r>
            <a:endParaRPr lang="en-IN" altLang="en-US" dirty="0">
              <a:ea typeface="Calibri" panose="020F0502020204030204" pitchFamily="34" charset="0"/>
              <a:sym typeface="+mn-lt"/>
            </a:endParaRPr>
          </a:p>
        </p:txBody>
      </p:sp>
      <p:sp>
        <p:nvSpPr>
          <p:cNvPr id="10" name="菱形 81"/>
          <p:cNvSpPr/>
          <p:nvPr>
            <p:custDataLst>
              <p:tags r:id="rId6"/>
            </p:custDataLst>
          </p:nvPr>
        </p:nvSpPr>
        <p:spPr>
          <a:xfrm>
            <a:off x="2071370" y="4116705"/>
            <a:ext cx="654685" cy="633730"/>
          </a:xfrm>
          <a:prstGeom prst="diamond">
            <a:avLst/>
          </a:prstGeom>
          <a:solidFill>
            <a:srgbClr val="494B4E"/>
          </a:solidFill>
          <a:ln>
            <a:noFill/>
          </a:ln>
          <a:effectLst>
            <a:outerShdw blurRad="431800" sx="104000" sy="104000" algn="ctr" rotWithShape="0">
              <a:schemeClr val="tx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altLang="en-US" dirty="0">
                <a:ea typeface="Calibri" panose="020F0502020204030204" pitchFamily="34" charset="0"/>
                <a:sym typeface="+mn-lt"/>
              </a:rPr>
              <a:t>5</a:t>
            </a:r>
            <a:endParaRPr lang="en-IN" altLang="en-US" dirty="0">
              <a:ea typeface="Calibri" panose="020F0502020204030204" pitchFamily="34" charset="0"/>
              <a:sym typeface="+mn-lt"/>
            </a:endParaRPr>
          </a:p>
        </p:txBody>
      </p:sp>
      <p:sp>
        <p:nvSpPr>
          <p:cNvPr id="12" name="矩形 69"/>
          <p:cNvSpPr/>
          <p:nvPr>
            <p:custDataLst>
              <p:tags r:id="rId7"/>
            </p:custDataLst>
          </p:nvPr>
        </p:nvSpPr>
        <p:spPr>
          <a:xfrm>
            <a:off x="2842260" y="1305560"/>
            <a:ext cx="6237605" cy="614680"/>
          </a:xfrm>
          <a:prstGeom prst="rect">
            <a:avLst/>
          </a:prstGeom>
        </p:spPr>
        <p:txBody>
          <a:bodyPr wrap="square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en-US" sz="1600" dirty="0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The increasing volume of transactions also creates opportunities for fraudulent activities.</a:t>
            </a:r>
            <a:endParaRPr lang="en-US" altLang="en-US" sz="1600" dirty="0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sp>
        <p:nvSpPr>
          <p:cNvPr id="13" name="矩形 69"/>
          <p:cNvSpPr/>
          <p:nvPr>
            <p:custDataLst>
              <p:tags r:id="rId8"/>
            </p:custDataLst>
          </p:nvPr>
        </p:nvSpPr>
        <p:spPr>
          <a:xfrm>
            <a:off x="2842260" y="4116705"/>
            <a:ext cx="6294755" cy="660400"/>
          </a:xfrm>
          <a:prstGeom prst="rect">
            <a:avLst/>
          </a:prstGeom>
        </p:spPr>
        <p:txBody>
          <a:bodyPr wrap="square" anchor="ctr" anchorCtr="0">
            <a:noAutofit/>
          </a:bodyPr>
          <a:lstStyle/>
          <a:p>
            <a:pPr>
              <a:lnSpc>
                <a:spcPct val="110000"/>
              </a:lnSpc>
            </a:pPr>
            <a:endParaRPr lang="en-US" altLang="en-US" sz="1600" dirty="0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sp>
        <p:nvSpPr>
          <p:cNvPr id="14" name="矩形 69"/>
          <p:cNvSpPr/>
          <p:nvPr>
            <p:custDataLst>
              <p:tags r:id="rId9"/>
            </p:custDataLst>
          </p:nvPr>
        </p:nvSpPr>
        <p:spPr>
          <a:xfrm>
            <a:off x="2841625" y="2206625"/>
            <a:ext cx="6295390" cy="660400"/>
          </a:xfrm>
          <a:prstGeom prst="rect">
            <a:avLst/>
          </a:prstGeom>
        </p:spPr>
        <p:txBody>
          <a:bodyPr wrap="square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en-US" sz="1600" dirty="0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Fraudulent transactions can cause financial losses, customer dissatisfaction, and reputational damage to banks.</a:t>
            </a:r>
            <a:endParaRPr lang="en-US" altLang="en-US" sz="1600" dirty="0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sp>
        <p:nvSpPr>
          <p:cNvPr id="15" name="矩形 69"/>
          <p:cNvSpPr/>
          <p:nvPr>
            <p:custDataLst>
              <p:tags r:id="rId10"/>
            </p:custDataLst>
          </p:nvPr>
        </p:nvSpPr>
        <p:spPr>
          <a:xfrm>
            <a:off x="2842260" y="3157855"/>
            <a:ext cx="6344920" cy="660400"/>
          </a:xfrm>
          <a:prstGeom prst="rect">
            <a:avLst/>
          </a:prstGeom>
        </p:spPr>
        <p:txBody>
          <a:bodyPr wrap="square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en-US" sz="1600" dirty="0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Analyzing transactional and customer-related patterns can help identify unusual and potentially risky transactions.</a:t>
            </a:r>
            <a:endParaRPr lang="en-US" altLang="en-US" sz="1600" dirty="0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842260" y="4100195"/>
            <a:ext cx="6167755" cy="530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en-US" altLang="en-US" sz="1600">
                <a:solidFill>
                  <a:schemeClr val="tx1">
                    <a:lumMod val="50000"/>
                  </a:schemeClr>
                </a:solidFill>
              </a:rPr>
              <a:t>This project applies data analytics techniques to analyze transaction behavior and develop a rule-based risk scoring approach for fraud monitoring.</a:t>
            </a:r>
            <a:endParaRPr lang="en-US" altLang="en-US" sz="1600">
              <a:solidFill>
                <a:schemeClr val="tx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菱形 6"/>
          <p:cNvSpPr/>
          <p:nvPr/>
        </p:nvSpPr>
        <p:spPr>
          <a:xfrm>
            <a:off x="0" y="804545"/>
            <a:ext cx="2252345" cy="1237615"/>
          </a:xfrm>
          <a:prstGeom prst="diamond">
            <a:avLst/>
          </a:prstGeom>
          <a:solidFill>
            <a:srgbClr val="494B4E"/>
          </a:solidFill>
          <a:ln>
            <a:noFill/>
          </a:ln>
          <a:effectLst>
            <a:outerShdw blurRad="431800" sx="104000" sy="104000" algn="ctr" rotWithShape="0">
              <a:schemeClr val="tx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IN" altLang="zh-CN" sz="1600" b="1" dirty="0">
                <a:ea typeface="Calibri" panose="020F0502020204030204" pitchFamily="34" charset="0"/>
              </a:rPr>
              <a:t>INDUSTRY    PROFILE</a:t>
            </a:r>
            <a:endParaRPr lang="en-IN" altLang="zh-CN" sz="1600" b="1" dirty="0">
              <a:ea typeface="Calibri" panose="020F0502020204030204" pitchFamily="34" charset="0"/>
            </a:endParaRPr>
          </a:p>
        </p:txBody>
      </p:sp>
      <p:sp>
        <p:nvSpPr>
          <p:cNvPr id="3" name="文本框 7"/>
          <p:cNvSpPr txBox="1">
            <a:spLocks noChangeArrowheads="1"/>
          </p:cNvSpPr>
          <p:nvPr/>
        </p:nvSpPr>
        <p:spPr bwMode="auto">
          <a:xfrm>
            <a:off x="2366010" y="619760"/>
            <a:ext cx="6456045" cy="3904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Autofit/>
          </a:bodyPr>
          <a:lstStyle>
            <a:lvl1pPr defTabSz="5143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defTabSz="5143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defTabSz="5143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defTabSz="5143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defTabSz="5143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defTabSz="51435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defTabSz="51435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defTabSz="51435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defTabSz="51435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600">
                <a:solidFill>
                  <a:schemeClr val="accent2"/>
                </a:solidFill>
              </a:rPr>
              <a:t>Banking and Financial Services is a major data-driven industry that</a:t>
            </a:r>
            <a:endParaRPr lang="en-US" altLang="en-US" sz="1600">
              <a:solidFill>
                <a:schemeClr val="accent2"/>
              </a:solidFill>
            </a:endParaRPr>
          </a:p>
          <a:p>
            <a:pPr indent="0" algn="l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en-US" sz="1600">
                <a:solidFill>
                  <a:schemeClr val="accent2"/>
                </a:solidFill>
              </a:rPr>
              <a:t> generates large volumes of transactional and customer data.</a:t>
            </a:r>
            <a:endParaRPr lang="en-US" altLang="en-US" sz="1600">
              <a:solidFill>
                <a:schemeClr val="accent2"/>
              </a:solidFill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600">
                <a:solidFill>
                  <a:schemeClr val="accent2"/>
                </a:solidFill>
              </a:rPr>
              <a:t>Data Analytics helps organizations convert this data into meaningful</a:t>
            </a:r>
            <a:endParaRPr lang="en-US" altLang="en-US" sz="1600">
              <a:solidFill>
                <a:schemeClr val="accent2"/>
              </a:solidFill>
            </a:endParaRPr>
          </a:p>
          <a:p>
            <a:pPr indent="0" algn="l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en-US" sz="1600">
                <a:solidFill>
                  <a:schemeClr val="accent2"/>
                </a:solidFill>
              </a:rPr>
              <a:t>insights for better decision-making.</a:t>
            </a:r>
            <a:endParaRPr lang="en-US" altLang="en-US" sz="1600">
              <a:solidFill>
                <a:schemeClr val="accent2"/>
              </a:solidFill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600">
                <a:solidFill>
                  <a:schemeClr val="accent2"/>
                </a:solidFill>
              </a:rPr>
              <a:t>Fraud Analytics is used to identify unusual transaction patterns and </a:t>
            </a:r>
            <a:endParaRPr lang="en-US" altLang="en-US" sz="1600">
              <a:solidFill>
                <a:schemeClr val="accent2"/>
              </a:solidFill>
            </a:endParaRPr>
          </a:p>
          <a:p>
            <a:pPr indent="0" algn="l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en-US" sz="1600">
                <a:solidFill>
                  <a:schemeClr val="accent2"/>
                </a:solidFill>
              </a:rPr>
              <a:t>potentially fraudulent activities.</a:t>
            </a:r>
            <a:endParaRPr lang="en-US" altLang="en-US" sz="1600">
              <a:solidFill>
                <a:schemeClr val="accent2"/>
              </a:solidFill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600">
                <a:solidFill>
                  <a:schemeClr val="accent2"/>
                </a:solidFill>
              </a:rPr>
              <a:t>Key areas include transaction analysis, risk monitoring, data visualization, </a:t>
            </a:r>
            <a:endParaRPr lang="en-US" altLang="en-US" sz="1600">
              <a:solidFill>
                <a:schemeClr val="accent2"/>
              </a:solidFill>
            </a:endParaRPr>
          </a:p>
          <a:p>
            <a:pPr indent="0" algn="l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en-US" sz="1600">
                <a:solidFill>
                  <a:schemeClr val="accent2"/>
                </a:solidFill>
              </a:rPr>
              <a:t>and predictive decision support.</a:t>
            </a:r>
            <a:endParaRPr lang="en-US" altLang="en-US" sz="1600">
              <a:solidFill>
                <a:schemeClr val="accent2"/>
              </a:solidFill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600">
                <a:solidFill>
                  <a:schemeClr val="accent2"/>
                </a:solidFill>
              </a:rPr>
              <a:t>The growth of digital banking and online payments has increased the</a:t>
            </a:r>
            <a:endParaRPr lang="en-US" altLang="en-US" sz="1600">
              <a:solidFill>
                <a:schemeClr val="accent2"/>
              </a:solidFill>
            </a:endParaRPr>
          </a:p>
          <a:p>
            <a:pPr indent="0" algn="l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en-US" sz="1600">
                <a:solidFill>
                  <a:schemeClr val="accent2"/>
                </a:solidFill>
              </a:rPr>
              <a:t> need for data-driven fraud detection and risk management solutions.</a:t>
            </a:r>
            <a:endParaRPr lang="en-US" altLang="en-US" sz="1600">
              <a:solidFill>
                <a:schemeClr val="accent2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29870" y="2042160"/>
            <a:ext cx="2226310" cy="268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>
                <a:solidFill>
                  <a:schemeClr val="tx2">
                    <a:lumMod val="75000"/>
                  </a:schemeClr>
                </a:solidFill>
              </a:rPr>
              <a:t>Data Analytics &amp; Banking</a:t>
            </a:r>
            <a:endParaRPr lang="en-US" altLang="en-US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菱形 6"/>
          <p:cNvSpPr/>
          <p:nvPr/>
        </p:nvSpPr>
        <p:spPr>
          <a:xfrm>
            <a:off x="2393950" y="503555"/>
            <a:ext cx="2252345" cy="1237615"/>
          </a:xfrm>
          <a:prstGeom prst="diamond">
            <a:avLst/>
          </a:prstGeom>
          <a:solidFill>
            <a:srgbClr val="494B4E"/>
          </a:solidFill>
          <a:ln>
            <a:noFill/>
          </a:ln>
          <a:effectLst>
            <a:outerShdw blurRad="431800" sx="104000" sy="104000" algn="ctr" rotWithShape="0">
              <a:schemeClr val="tx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IN" altLang="zh-CN" sz="1600" b="1" dirty="0">
                <a:ea typeface="Calibri" panose="020F0502020204030204" pitchFamily="34" charset="0"/>
              </a:rPr>
              <a:t>COMPANYPROFILE</a:t>
            </a:r>
            <a:endParaRPr lang="en-IN" altLang="zh-CN" sz="1600" b="1" dirty="0">
              <a:ea typeface="Calibri" panose="020F050202020403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52120" y="2007235"/>
            <a:ext cx="3048000" cy="1129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>
                <a:solidFill>
                  <a:schemeClr val="accent2">
                    <a:lumMod val="75000"/>
                    <a:lumOff val="25000"/>
                  </a:schemeClr>
                </a:solidFill>
              </a:rPr>
              <a:t>VISION</a:t>
            </a:r>
            <a:endParaRPr lang="en-US" altLang="en-US" b="1">
              <a:solidFill>
                <a:schemeClr val="accent2">
                  <a:lumMod val="75000"/>
                  <a:lumOff val="25000"/>
                </a:schemeClr>
              </a:solidFill>
            </a:endParaRPr>
          </a:p>
          <a:p>
            <a:r>
              <a:rPr lang="en-US" altLang="en-US">
                <a:solidFill>
                  <a:schemeClr val="accent2">
                    <a:lumMod val="75000"/>
                    <a:lumOff val="25000"/>
                  </a:schemeClr>
                </a:solidFill>
              </a:rPr>
              <a:t>“To achieve excellence in software development and technology services through quality, innovation, continuous improvement, and customer satisfaction.”</a:t>
            </a:r>
            <a:endParaRPr lang="en-US" altLang="en-US">
              <a:solidFill>
                <a:schemeClr val="accent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52120" y="3507105"/>
            <a:ext cx="304800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>
                <a:solidFill>
                  <a:schemeClr val="accent2">
                    <a:lumMod val="75000"/>
                    <a:lumOff val="25000"/>
                  </a:schemeClr>
                </a:solidFill>
              </a:rPr>
              <a:t>MISSION</a:t>
            </a:r>
            <a:endParaRPr lang="en-US" altLang="en-US" b="1">
              <a:solidFill>
                <a:schemeClr val="accent2">
                  <a:lumMod val="75000"/>
                  <a:lumOff val="25000"/>
                </a:schemeClr>
              </a:solidFill>
            </a:endParaRPr>
          </a:p>
          <a:p>
            <a:r>
              <a:rPr lang="en-US" altLang="en-US">
                <a:solidFill>
                  <a:schemeClr val="accent2">
                    <a:lumMod val="75000"/>
                    <a:lumOff val="25000"/>
                  </a:schemeClr>
                </a:solidFill>
              </a:rPr>
              <a:t>“To provide effective and business-focused software solutions, research and development, consultancy, and training services using advanced technology and skilled professionals.”</a:t>
            </a:r>
            <a:endParaRPr lang="en-US" altLang="en-US">
              <a:solidFill>
                <a:schemeClr val="accent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589655" y="2278380"/>
            <a:ext cx="29743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b="1">
                <a:solidFill>
                  <a:schemeClr val="accent2">
                    <a:lumMod val="75000"/>
                    <a:lumOff val="25000"/>
                  </a:schemeClr>
                </a:solidFill>
              </a:rPr>
              <a:t>Courses Offered</a:t>
            </a:r>
            <a:r>
              <a:rPr lang="en-IN" altLang="en-US">
                <a:solidFill>
                  <a:schemeClr val="accent2">
                    <a:lumMod val="75000"/>
                    <a:lumOff val="25000"/>
                  </a:schemeClr>
                </a:solidFill>
              </a:rPr>
              <a:t>     </a:t>
            </a:r>
            <a:endParaRPr lang="en-IN" altLang="en-US">
              <a:solidFill>
                <a:schemeClr val="accent2">
                  <a:lumMod val="75000"/>
                  <a:lumOff val="25000"/>
                </a:schemeClr>
              </a:solidFill>
            </a:endParaRPr>
          </a:p>
          <a:p>
            <a:r>
              <a:rPr lang="en-IN" altLang="en-US">
                <a:solidFill>
                  <a:schemeClr val="accent2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en-US">
                <a:solidFill>
                  <a:schemeClr val="accent2">
                    <a:lumMod val="75000"/>
                    <a:lumOff val="25000"/>
                  </a:schemeClr>
                </a:solidFill>
              </a:rPr>
              <a:t>Data Analytics, Data Science, AI, Full-Stack Development, and Embedded Systems.</a:t>
            </a:r>
            <a:endParaRPr lang="en-US" altLang="en-US">
              <a:solidFill>
                <a:schemeClr val="accent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439160" y="3402965"/>
            <a:ext cx="2925445" cy="154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b="1">
                <a:solidFill>
                  <a:schemeClr val="accent2">
                    <a:lumMod val="75000"/>
                    <a:lumOff val="25000"/>
                  </a:schemeClr>
                </a:solidFill>
              </a:rPr>
              <a:t>Branches</a:t>
            </a:r>
            <a:endParaRPr lang="en-IN" altLang="en-US" b="1">
              <a:solidFill>
                <a:schemeClr val="accent2">
                  <a:lumMod val="75000"/>
                  <a:lumOff val="25000"/>
                </a:schemeClr>
              </a:solidFill>
            </a:endParaRPr>
          </a:p>
          <a:p>
            <a:r>
              <a:rPr lang="en-IN" altLang="en-US">
                <a:solidFill>
                  <a:schemeClr val="accent2">
                    <a:lumMod val="75000"/>
                    <a:lumOff val="25000"/>
                  </a:schemeClr>
                </a:solidFill>
              </a:rPr>
              <a:t>    1. Quest Innovative Solutions Pvt Ltd, Panavilai, Thiruvananthapuram</a:t>
            </a:r>
            <a:endParaRPr lang="en-IN" altLang="en-US">
              <a:solidFill>
                <a:schemeClr val="accent2">
                  <a:lumMod val="75000"/>
                  <a:lumOff val="25000"/>
                </a:schemeClr>
              </a:solidFill>
            </a:endParaRPr>
          </a:p>
          <a:p>
            <a:r>
              <a:rPr lang="en-IN" altLang="en-US">
                <a:solidFill>
                  <a:schemeClr val="accent2">
                    <a:lumMod val="75000"/>
                    <a:lumOff val="25000"/>
                  </a:schemeClr>
                </a:solidFill>
              </a:rPr>
              <a:t>    2. </a:t>
            </a:r>
            <a:r>
              <a:rPr lang="en-IN" altLang="en-US">
                <a:solidFill>
                  <a:schemeClr val="accent2">
                    <a:lumMod val="75000"/>
                    <a:lumOff val="25000"/>
                  </a:schemeClr>
                </a:solidFill>
                <a:sym typeface="+mn-ea"/>
              </a:rPr>
              <a:t>Quest Innovative Solutions Pvt Ltd,</a:t>
            </a:r>
            <a:endParaRPr lang="en-IN" altLang="en-US">
              <a:solidFill>
                <a:schemeClr val="accent2">
                  <a:lumMod val="75000"/>
                  <a:lumOff val="25000"/>
                </a:schemeClr>
              </a:solidFill>
              <a:sym typeface="+mn-ea"/>
            </a:endParaRPr>
          </a:p>
          <a:p>
            <a:r>
              <a:rPr lang="en-IN" altLang="en-US">
                <a:solidFill>
                  <a:schemeClr val="accent2">
                    <a:lumMod val="75000"/>
                    <a:lumOff val="25000"/>
                  </a:schemeClr>
                </a:solidFill>
              </a:rPr>
              <a:t>Kozhicode, Calicut</a:t>
            </a:r>
            <a:endParaRPr lang="en-IN" altLang="en-US">
              <a:solidFill>
                <a:schemeClr val="accent2">
                  <a:lumMod val="75000"/>
                  <a:lumOff val="25000"/>
                </a:schemeClr>
              </a:solidFill>
            </a:endParaRPr>
          </a:p>
          <a:p>
            <a:r>
              <a:rPr lang="en-IN" altLang="en-US">
                <a:solidFill>
                  <a:schemeClr val="accent2">
                    <a:lumMod val="75000"/>
                    <a:lumOff val="25000"/>
                  </a:schemeClr>
                </a:solidFill>
              </a:rPr>
              <a:t>    3.  </a:t>
            </a:r>
            <a:r>
              <a:rPr lang="en-IN" altLang="en-US">
                <a:solidFill>
                  <a:schemeClr val="accent2">
                    <a:lumMod val="75000"/>
                    <a:lumOff val="25000"/>
                  </a:schemeClr>
                </a:solidFill>
                <a:sym typeface="+mn-ea"/>
              </a:rPr>
              <a:t>Quest Innovative Solutions Pvt Ltd,</a:t>
            </a:r>
            <a:endParaRPr lang="en-IN" altLang="en-US">
              <a:solidFill>
                <a:schemeClr val="accent2">
                  <a:lumMod val="75000"/>
                  <a:lumOff val="25000"/>
                </a:schemeClr>
              </a:solidFill>
              <a:sym typeface="+mn-ea"/>
            </a:endParaRPr>
          </a:p>
          <a:p>
            <a:r>
              <a:rPr lang="en-IN" altLang="en-US">
                <a:solidFill>
                  <a:schemeClr val="accent2">
                    <a:lumMod val="75000"/>
                    <a:lumOff val="25000"/>
                  </a:schemeClr>
                </a:solidFill>
              </a:rPr>
              <a:t>Kannur</a:t>
            </a:r>
            <a:endParaRPr lang="en-IN" altLang="en-US">
              <a:solidFill>
                <a:schemeClr val="accent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8" name="Picture 7" descr="Screenshot 2026-05-27 1515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605" y="3865245"/>
            <a:ext cx="2781300" cy="104775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7007860" y="3528060"/>
            <a:ext cx="16998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1600" b="1">
                <a:solidFill>
                  <a:schemeClr val="accent2">
                    <a:lumMod val="75000"/>
                    <a:lumOff val="25000"/>
                  </a:schemeClr>
                </a:solidFill>
              </a:rPr>
              <a:t>Company Logo</a:t>
            </a:r>
            <a:endParaRPr lang="en-IN" altLang="en-US" sz="1600" b="1">
              <a:solidFill>
                <a:schemeClr val="accent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4" name="Picture 24" descr="WhatsApp Image 2026-05-28 at 10.18.47 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300" y="1421130"/>
            <a:ext cx="2567940" cy="192341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464300" y="730885"/>
            <a:ext cx="256857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IN" altLang="en-US"/>
              <a:t>Quest Innovative Solutions Pvt Ltd,</a:t>
            </a:r>
            <a:endParaRPr lang="en-IN" altLang="en-US"/>
          </a:p>
          <a:p>
            <a:pPr algn="r"/>
            <a:r>
              <a:rPr lang="en-IN" altLang="en-US"/>
              <a:t> </a:t>
            </a:r>
            <a:r>
              <a:rPr lang="en-US" altLang="en-IN"/>
              <a:t>Thiruvananthapuram</a:t>
            </a:r>
            <a:endParaRPr lang="en-US" alt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菱形 6"/>
          <p:cNvSpPr/>
          <p:nvPr/>
        </p:nvSpPr>
        <p:spPr>
          <a:xfrm>
            <a:off x="0" y="1388110"/>
            <a:ext cx="2381885" cy="1237615"/>
          </a:xfrm>
          <a:prstGeom prst="diamond">
            <a:avLst/>
          </a:prstGeom>
          <a:solidFill>
            <a:srgbClr val="494B4E"/>
          </a:solidFill>
          <a:ln>
            <a:noFill/>
          </a:ln>
          <a:effectLst>
            <a:outerShdw blurRad="431800" sx="104000" sy="104000" algn="ctr" rotWithShape="0">
              <a:schemeClr val="tx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en-IN" sz="1600" b="1" dirty="0">
                <a:ea typeface="Calibri" panose="020F0502020204030204" pitchFamily="34" charset="0"/>
              </a:rPr>
              <a:t>PROBLEM STATEMENT</a:t>
            </a:r>
            <a:endParaRPr lang="en-US" altLang="en-IN" sz="1600" b="1" dirty="0">
              <a:ea typeface="Calibri" panose="020F050202020403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004185" y="876935"/>
            <a:ext cx="4907280" cy="3388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1600">
                <a:solidFill>
                  <a:schemeClr val="tx2">
                    <a:lumMod val="75000"/>
                  </a:schemeClr>
                </a:solidFill>
              </a:rPr>
              <a:t>The increasing volume of digital banking transactions makes it difficult for banks to manually identify fraudulent activities.</a:t>
            </a:r>
            <a:endParaRPr lang="en-US" altLang="en-US" sz="1600">
              <a:solidFill>
                <a:schemeClr val="tx2">
                  <a:lumMod val="75000"/>
                </a:schemeClr>
              </a:solidFill>
            </a:endParaRPr>
          </a:p>
          <a:p>
            <a:pPr indent="0">
              <a:buFont typeface="Wingdings" panose="05000000000000000000" charset="0"/>
              <a:buNone/>
            </a:pPr>
            <a:endParaRPr lang="en-US" altLang="en-US" sz="160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1600">
                <a:solidFill>
                  <a:schemeClr val="tx2">
                    <a:lumMod val="75000"/>
                  </a:schemeClr>
                </a:solidFill>
              </a:rPr>
              <a:t>Fraudulent transactions may occur across different transaction, customer, device, merchant, and time-related patterns, making them challenging to monitor effectively. </a:t>
            </a:r>
            <a:endParaRPr lang="en-US" altLang="en-US" sz="1600">
              <a:solidFill>
                <a:schemeClr val="tx2">
                  <a:lumMod val="75000"/>
                </a:schemeClr>
              </a:solidFill>
            </a:endParaRPr>
          </a:p>
          <a:p>
            <a:pPr indent="0">
              <a:buFont typeface="Wingdings" panose="05000000000000000000" charset="0"/>
              <a:buNone/>
            </a:pPr>
            <a:endParaRPr lang="en-US" altLang="en-US" sz="160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1600">
                <a:solidFill>
                  <a:schemeClr val="tx2">
                    <a:lumMod val="75000"/>
                  </a:schemeClr>
                </a:solidFill>
              </a:rPr>
              <a:t>Therefore, there is a need for a data-driven approach to analyze transaction behavior, identify fraud-related patterns, assess transaction risk, and support effective fraud monitoring.</a:t>
            </a:r>
            <a:endParaRPr lang="en-US" altLang="en-US" sz="160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菱形 6"/>
          <p:cNvSpPr/>
          <p:nvPr/>
        </p:nvSpPr>
        <p:spPr>
          <a:xfrm>
            <a:off x="62230" y="1334135"/>
            <a:ext cx="2381885" cy="1237615"/>
          </a:xfrm>
          <a:prstGeom prst="diamond">
            <a:avLst/>
          </a:prstGeom>
          <a:solidFill>
            <a:srgbClr val="494B4E"/>
          </a:solidFill>
          <a:ln>
            <a:noFill/>
          </a:ln>
          <a:effectLst>
            <a:outerShdw blurRad="431800" sx="104000" sy="104000" algn="ctr" rotWithShape="0">
              <a:schemeClr val="tx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en-IN" sz="1600" b="1" dirty="0">
                <a:ea typeface="Calibri" panose="020F0502020204030204" pitchFamily="34" charset="0"/>
              </a:rPr>
              <a:t>NEED OF THE STUDY</a:t>
            </a:r>
            <a:endParaRPr lang="en-US" altLang="en-IN" sz="1600" b="1" dirty="0">
              <a:ea typeface="Calibri" panose="020F050202020403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275330" y="838835"/>
            <a:ext cx="4437380" cy="3661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1600">
                <a:solidFill>
                  <a:schemeClr val="accent3">
                    <a:lumMod val="50000"/>
                  </a:schemeClr>
                </a:solidFill>
              </a:rPr>
              <a:t>Helps identify patterns associated with fraudulent transactions.</a:t>
            </a:r>
            <a:endParaRPr lang="en-US" altLang="en-US" sz="1600">
              <a:solidFill>
                <a:schemeClr val="accent3">
                  <a:lumMod val="50000"/>
                </a:schemeClr>
              </a:solidFill>
            </a:endParaRPr>
          </a:p>
          <a:p>
            <a:pPr indent="0">
              <a:buFont typeface="Wingdings" panose="05000000000000000000" charset="0"/>
              <a:buNone/>
            </a:pPr>
            <a:endParaRPr lang="en-US" altLang="en-US" sz="1600">
              <a:solidFill>
                <a:schemeClr val="accent3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1600">
                <a:solidFill>
                  <a:schemeClr val="accent3">
                    <a:lumMod val="50000"/>
                  </a:schemeClr>
                </a:solidFill>
              </a:rPr>
              <a:t>Supports better understanding of high-risk transaction characteristics.</a:t>
            </a:r>
            <a:endParaRPr lang="en-US" altLang="en-US" sz="1600">
              <a:solidFill>
                <a:schemeClr val="accent3">
                  <a:lumMod val="50000"/>
                </a:schemeClr>
              </a:solidFill>
            </a:endParaRPr>
          </a:p>
          <a:p>
            <a:pPr indent="0">
              <a:buFont typeface="Wingdings" panose="05000000000000000000" charset="0"/>
              <a:buNone/>
            </a:pPr>
            <a:endParaRPr lang="en-US" altLang="en-US" sz="1600">
              <a:solidFill>
                <a:schemeClr val="accent3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1600">
                <a:solidFill>
                  <a:schemeClr val="accent3">
                    <a:lumMod val="50000"/>
                  </a:schemeClr>
                </a:solidFill>
              </a:rPr>
              <a:t>Helps banks improve fraud monitoring and risk assessment.</a:t>
            </a:r>
            <a:endParaRPr lang="en-US" altLang="en-US" sz="1600">
              <a:solidFill>
                <a:schemeClr val="accent3">
                  <a:lumMod val="50000"/>
                </a:schemeClr>
              </a:solidFill>
            </a:endParaRPr>
          </a:p>
          <a:p>
            <a:pPr indent="0">
              <a:buFont typeface="Wingdings" panose="05000000000000000000" charset="0"/>
              <a:buNone/>
            </a:pPr>
            <a:endParaRPr lang="en-US" altLang="en-US" sz="1600">
              <a:solidFill>
                <a:schemeClr val="accent3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1600">
                <a:solidFill>
                  <a:schemeClr val="accent3">
                    <a:lumMod val="50000"/>
                  </a:schemeClr>
                </a:solidFill>
              </a:rPr>
              <a:t>Provides data-driven insights for decision-making.</a:t>
            </a:r>
            <a:endParaRPr lang="en-US" altLang="en-US" sz="1600">
              <a:solidFill>
                <a:schemeClr val="accent3">
                  <a:lumMod val="50000"/>
                </a:schemeClr>
              </a:solidFill>
            </a:endParaRPr>
          </a:p>
          <a:p>
            <a:pPr indent="0">
              <a:buFont typeface="Wingdings" panose="05000000000000000000" charset="0"/>
              <a:buNone/>
            </a:pPr>
            <a:endParaRPr lang="en-US" altLang="en-US" sz="1600">
              <a:solidFill>
                <a:schemeClr val="accent3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1600">
                <a:solidFill>
                  <a:schemeClr val="accent3">
                    <a:lumMod val="50000"/>
                  </a:schemeClr>
                </a:solidFill>
              </a:rPr>
              <a:t>Interactive dashboards enable easy monitoring and visualization of fraud patterns.</a:t>
            </a:r>
            <a:endParaRPr lang="en-US" altLang="en-US" sz="1600">
              <a:solidFill>
                <a:schemeClr val="accent3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373380" y="626745"/>
            <a:ext cx="8375015" cy="4455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en-US" sz="1600">
                <a:solidFill>
                  <a:schemeClr val="accent2"/>
                </a:solidFill>
                <a:cs typeface="+mn-lt"/>
              </a:rPr>
              <a:t>1.To analyze customer and transaction behaviour using banking transaction data.</a:t>
            </a:r>
            <a:endParaRPr lang="en-US" altLang="en-US" sz="1600">
              <a:solidFill>
                <a:schemeClr val="accent2"/>
              </a:solidFill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altLang="en-US" sz="1600">
                <a:solidFill>
                  <a:schemeClr val="accent2"/>
                </a:solidFill>
                <a:cs typeface="+mn-lt"/>
              </a:rPr>
              <a:t>2.To identify patterns associated with fraudulent transactions.</a:t>
            </a:r>
            <a:endParaRPr lang="en-US" altLang="en-US" sz="1600">
              <a:solidFill>
                <a:schemeClr val="accent2"/>
              </a:solidFill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altLang="en-US" sz="1600">
                <a:solidFill>
                  <a:schemeClr val="accent2"/>
                </a:solidFill>
                <a:cs typeface="+mn-lt"/>
              </a:rPr>
              <a:t>3.To compare fraudulent and genuine transactions based on transaction amount, account balance, transaction type, device type, time, and other characteristics.</a:t>
            </a:r>
            <a:endParaRPr lang="en-US" altLang="en-US" sz="1600">
              <a:solidFill>
                <a:schemeClr val="accent2"/>
              </a:solidFill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altLang="en-US" sz="1600">
                <a:solidFill>
                  <a:schemeClr val="accent2"/>
                </a:solidFill>
                <a:cs typeface="+mn-lt"/>
              </a:rPr>
              <a:t>4.To calculate fraud rates across different transaction and customer-related categories.</a:t>
            </a:r>
            <a:endParaRPr lang="en-US" altLang="en-US" sz="1600">
              <a:solidFill>
                <a:schemeClr val="accent2"/>
              </a:solidFill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altLang="en-US" sz="1600">
                <a:solidFill>
                  <a:schemeClr val="accent2"/>
                </a:solidFill>
                <a:cs typeface="+mn-lt"/>
              </a:rPr>
              <a:t>5.To engineer analytical features such as transaction size, age group, time of day, balance utilization, and risk level.</a:t>
            </a:r>
            <a:endParaRPr lang="en-US" altLang="en-US" sz="1600">
              <a:solidFill>
                <a:schemeClr val="accent2"/>
              </a:solidFill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altLang="en-US" sz="1600">
                <a:solidFill>
                  <a:schemeClr val="accent2"/>
                </a:solidFill>
                <a:cs typeface="+mn-lt"/>
              </a:rPr>
              <a:t>6.To develop a rule-based heuristic risk scoring system for transaction risk monitoring.</a:t>
            </a:r>
            <a:endParaRPr lang="en-US" altLang="en-US" sz="1600">
              <a:solidFill>
                <a:schemeClr val="accent2"/>
              </a:solidFill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altLang="en-US" sz="1600">
                <a:solidFill>
                  <a:schemeClr val="accent2"/>
                </a:solidFill>
                <a:cs typeface="+mn-lt"/>
              </a:rPr>
              <a:t>7.To analyze fraud patterns using SQL queries and analytical views.</a:t>
            </a:r>
            <a:endParaRPr lang="en-US" altLang="en-US" sz="1600">
              <a:solidFill>
                <a:schemeClr val="accent2"/>
              </a:solidFill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altLang="en-US" sz="1600">
                <a:solidFill>
                  <a:schemeClr val="accent2"/>
                </a:solidFill>
                <a:cs typeface="+mn-lt"/>
              </a:rPr>
              <a:t>8.To develop an interactive Tableau dashboard for monitoring fraud trends and risk patterns.</a:t>
            </a:r>
            <a:endParaRPr lang="en-US" altLang="en-US" sz="1600">
              <a:solidFill>
                <a:schemeClr val="accent2"/>
              </a:solidFill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altLang="en-US" sz="1600">
                <a:solidFill>
                  <a:schemeClr val="accent2"/>
                </a:solidFill>
                <a:cs typeface="+mn-lt"/>
              </a:rPr>
              <a:t>9.To generate meaningful insights that can support banking fraud-monitoring decisions.</a:t>
            </a:r>
            <a:endParaRPr lang="en-US" altLang="en-US" sz="1600">
              <a:solidFill>
                <a:schemeClr val="accent2"/>
              </a:solidFill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altLang="en-US" sz="1600">
                <a:solidFill>
                  <a:schemeClr val="accent2"/>
                </a:solidFill>
                <a:cs typeface="+mn-lt"/>
              </a:rPr>
              <a:t>10.To provide recommendations for improving fraud monitoring and future analytical capabilities.</a:t>
            </a:r>
            <a:endParaRPr lang="en-US" altLang="en-US" sz="1600">
              <a:solidFill>
                <a:schemeClr val="accent2"/>
              </a:solidFill>
              <a:cs typeface="+mn-lt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935990" y="200660"/>
            <a:ext cx="3048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solidFill>
                  <a:schemeClr val="accent2">
                    <a:lumMod val="95000"/>
                    <a:lumOff val="5000"/>
                  </a:schemeClr>
                </a:solidFill>
              </a:rPr>
              <a:t>OBJECTIVES</a:t>
            </a:r>
            <a:endParaRPr lang="en-US" sz="2800">
              <a:solidFill>
                <a:schemeClr val="accent2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459355" y="906145"/>
            <a:ext cx="5734685" cy="3142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q"/>
            </a:pPr>
            <a:r>
              <a:rPr lang="en-US" altLang="en-US" sz="1800">
                <a:solidFill>
                  <a:schemeClr val="tx2">
                    <a:lumMod val="75000"/>
                  </a:schemeClr>
                </a:solidFill>
              </a:rPr>
              <a:t>Focuses on banking transaction data containing 200,000 transactions.</a:t>
            </a:r>
            <a:endParaRPr lang="en-US" altLang="en-US" sz="180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US" sz="1800">
                <a:solidFill>
                  <a:schemeClr val="tx2">
                    <a:lumMod val="75000"/>
                  </a:schemeClr>
                </a:solidFill>
              </a:rPr>
              <a:t>Analyzes fraudulent and genuine transactions.</a:t>
            </a:r>
            <a:endParaRPr lang="en-US" altLang="en-US" sz="180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US" sz="1800">
                <a:solidFill>
                  <a:schemeClr val="tx2">
                    <a:lumMod val="75000"/>
                  </a:schemeClr>
                </a:solidFill>
              </a:rPr>
              <a:t>Examines transaction patterns across:</a:t>
            </a:r>
            <a:endParaRPr lang="en-US" altLang="en-US" sz="180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>
                <a:solidFill>
                  <a:schemeClr val="tx2">
                    <a:lumMod val="75000"/>
                  </a:schemeClr>
                </a:solidFill>
              </a:rPr>
              <a:t>Transaction &amp; merchant characteristics</a:t>
            </a:r>
            <a:endParaRPr lang="en-US" altLang="en-US" sz="180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>
                <a:solidFill>
                  <a:schemeClr val="tx2">
                    <a:lumMod val="75000"/>
                  </a:schemeClr>
                </a:solidFill>
              </a:rPr>
              <a:t>Customer demographics</a:t>
            </a:r>
            <a:endParaRPr lang="en-US" altLang="en-US" sz="180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>
                <a:solidFill>
                  <a:schemeClr val="tx2">
                    <a:lumMod val="75000"/>
                  </a:schemeClr>
                </a:solidFill>
              </a:rPr>
              <a:t>Device &amp; location</a:t>
            </a:r>
            <a:endParaRPr lang="en-US" altLang="en-US" sz="180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>
                <a:solidFill>
                  <a:schemeClr val="tx2">
                    <a:lumMod val="75000"/>
                  </a:schemeClr>
                </a:solidFill>
              </a:rPr>
              <a:t>Time-related factors</a:t>
            </a:r>
            <a:endParaRPr lang="en-US" altLang="en-US" sz="180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US" sz="1800">
                <a:solidFill>
                  <a:schemeClr val="tx2">
                    <a:lumMod val="75000"/>
                  </a:schemeClr>
                </a:solidFill>
              </a:rPr>
              <a:t>Includes feature engineering and rule-based risk scoring.</a:t>
            </a:r>
            <a:endParaRPr lang="en-US" altLang="en-US" sz="180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US" sz="1800">
                <a:solidFill>
                  <a:schemeClr val="tx2">
                    <a:lumMod val="75000"/>
                  </a:schemeClr>
                </a:solidFill>
              </a:rPr>
              <a:t>Uses data visualization and interactive dashboards to support fraud monitoring.</a:t>
            </a:r>
            <a:endParaRPr lang="en-US" altLang="en-US" sz="180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" name="菱形 6"/>
          <p:cNvSpPr/>
          <p:nvPr/>
        </p:nvSpPr>
        <p:spPr>
          <a:xfrm>
            <a:off x="-92075" y="1952625"/>
            <a:ext cx="2381885" cy="1237615"/>
          </a:xfrm>
          <a:prstGeom prst="diamond">
            <a:avLst/>
          </a:prstGeom>
          <a:solidFill>
            <a:srgbClr val="494B4E"/>
          </a:solidFill>
          <a:ln>
            <a:noFill/>
          </a:ln>
          <a:effectLst>
            <a:outerShdw blurRad="431800" sx="104000" sy="104000" algn="ctr" rotWithShape="0">
              <a:schemeClr val="tx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en-US" sz="1600" b="1" dirty="0">
                <a:ea typeface="Calibri" panose="020F0502020204030204" pitchFamily="34" charset="0"/>
              </a:rPr>
              <a:t>SCOPE OF THE STUDY</a:t>
            </a:r>
            <a:endParaRPr lang="en-US" altLang="en-US" sz="1600" b="1" dirty="0"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菱形 6"/>
          <p:cNvSpPr/>
          <p:nvPr/>
        </p:nvSpPr>
        <p:spPr>
          <a:xfrm>
            <a:off x="635" y="826135"/>
            <a:ext cx="3027680" cy="1237615"/>
          </a:xfrm>
          <a:prstGeom prst="diamond">
            <a:avLst/>
          </a:prstGeom>
          <a:solidFill>
            <a:srgbClr val="494B4E"/>
          </a:solidFill>
          <a:ln>
            <a:noFill/>
          </a:ln>
          <a:effectLst>
            <a:outerShdw blurRad="431800" sx="104000" sy="104000" algn="ctr" rotWithShape="0">
              <a:schemeClr val="tx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IN" altLang="en-US" sz="1600" b="1">
                <a:solidFill>
                  <a:schemeClr val="accent4">
                    <a:lumMod val="20000"/>
                    <a:lumOff val="80000"/>
                  </a:schemeClr>
                </a:solidFill>
                <a:sym typeface="+mn-ea"/>
              </a:rPr>
              <a:t>TOTAL TRANSACTIONS</a:t>
            </a:r>
            <a:endParaRPr lang="en-IN" altLang="en-US" sz="1600" b="1">
              <a:solidFill>
                <a:schemeClr val="accent4">
                  <a:lumMod val="20000"/>
                  <a:lumOff val="80000"/>
                </a:schemeClr>
              </a:solidFill>
              <a:sym typeface="+mn-ea"/>
            </a:endParaRPr>
          </a:p>
          <a:p>
            <a:pPr algn="ctr">
              <a:lnSpc>
                <a:spcPct val="90000"/>
              </a:lnSpc>
            </a:pPr>
            <a:r>
              <a:rPr lang="en-IN" altLang="en-US" sz="1600" dirty="0">
                <a:solidFill>
                  <a:schemeClr val="accent4">
                    <a:lumMod val="20000"/>
                    <a:lumOff val="80000"/>
                  </a:schemeClr>
                </a:solidFill>
                <a:ea typeface="Calibri" panose="020F0502020204030204" pitchFamily="34" charset="0"/>
                <a:sym typeface="+mn-ea"/>
              </a:rPr>
              <a:t>200K</a:t>
            </a:r>
            <a:endParaRPr lang="en-IN" altLang="en-US" sz="1600" dirty="0">
              <a:solidFill>
                <a:schemeClr val="accent4">
                  <a:lumMod val="20000"/>
                  <a:lumOff val="80000"/>
                </a:schemeClr>
              </a:solidFill>
              <a:ea typeface="Calibri" panose="020F0502020204030204" pitchFamily="34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481195" y="414655"/>
            <a:ext cx="3809365" cy="2061210"/>
          </a:xfrm>
          <a:prstGeom prst="rect">
            <a:avLst/>
          </a:prstGeom>
          <a:gradFill>
            <a:gsLst>
              <a:gs pos="50000">
                <a:schemeClr val="accent6"/>
              </a:gs>
              <a:gs pos="0">
                <a:schemeClr val="accent6">
                  <a:lumMod val="25000"/>
                  <a:lumOff val="75000"/>
                </a:schemeClr>
              </a:gs>
              <a:gs pos="100000">
                <a:schemeClr val="accent6">
                  <a:lumMod val="8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 prstMaterial="matte"/>
        </p:spPr>
        <p:txBody>
          <a:bodyPr wrap="square" rtlCol="0">
            <a:spAutoFit/>
          </a:bodyPr>
          <a:p>
            <a:r>
              <a:rPr lang="en-US" altLang="en-US" sz="1600" b="1">
                <a:solidFill>
                  <a:schemeClr val="accent2">
                    <a:lumMod val="75000"/>
                    <a:lumOff val="25000"/>
                  </a:schemeClr>
                </a:solidFill>
              </a:rPr>
              <a:t>Dataset Overview</a:t>
            </a:r>
            <a:endParaRPr lang="en-US" altLang="en-US" sz="1600" b="1">
              <a:solidFill>
                <a:schemeClr val="accent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 sz="1600">
                <a:solidFill>
                  <a:schemeClr val="accent2">
                    <a:lumMod val="75000"/>
                    <a:lumOff val="25000"/>
                  </a:schemeClr>
                </a:solidFill>
              </a:rPr>
              <a:t>Dataset: Banking Transaction Dataset</a:t>
            </a:r>
            <a:endParaRPr lang="en-US" altLang="en-US" sz="1600">
              <a:solidFill>
                <a:schemeClr val="accent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 sz="1600">
                <a:solidFill>
                  <a:schemeClr val="accent2">
                    <a:lumMod val="75000"/>
                    <a:lumOff val="25000"/>
                  </a:schemeClr>
                </a:solidFill>
              </a:rPr>
              <a:t>Total Transactions: 200,000</a:t>
            </a:r>
            <a:endParaRPr lang="en-US" altLang="en-US" sz="1600">
              <a:solidFill>
                <a:schemeClr val="accent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 sz="1600">
                <a:solidFill>
                  <a:schemeClr val="accent2">
                    <a:lumMod val="75000"/>
                    <a:lumOff val="25000"/>
                  </a:schemeClr>
                </a:solidFill>
              </a:rPr>
              <a:t>Total Variables: 24</a:t>
            </a:r>
            <a:endParaRPr lang="en-US" altLang="en-US" sz="1600">
              <a:solidFill>
                <a:schemeClr val="accent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 sz="1600">
                <a:solidFill>
                  <a:schemeClr val="accent2">
                    <a:lumMod val="75000"/>
                    <a:lumOff val="25000"/>
                  </a:schemeClr>
                </a:solidFill>
              </a:rPr>
              <a:t>Fraudulent Transactions: 10,088</a:t>
            </a:r>
            <a:endParaRPr lang="en-US" altLang="en-US" sz="1600">
              <a:solidFill>
                <a:schemeClr val="accent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 sz="1600">
                <a:solidFill>
                  <a:schemeClr val="accent2">
                    <a:lumMod val="75000"/>
                    <a:lumOff val="25000"/>
                  </a:schemeClr>
                </a:solidFill>
              </a:rPr>
              <a:t>Genuine Transactions: 189,912</a:t>
            </a:r>
            <a:endParaRPr lang="en-US" altLang="en-US" sz="1600">
              <a:solidFill>
                <a:schemeClr val="accent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 sz="1600">
                <a:solidFill>
                  <a:schemeClr val="accent2">
                    <a:lumMod val="75000"/>
                    <a:lumOff val="25000"/>
                  </a:schemeClr>
                </a:solidFill>
              </a:rPr>
              <a:t>Fraud Rate: 5.04%</a:t>
            </a:r>
            <a:endParaRPr lang="en-US" altLang="en-US" sz="1600">
              <a:solidFill>
                <a:schemeClr val="accent2">
                  <a:lumMod val="75000"/>
                  <a:lumOff val="25000"/>
                </a:schemeClr>
              </a:solidFill>
            </a:endParaRPr>
          </a:p>
          <a:p>
            <a:pPr indent="0">
              <a:buFont typeface="Wingdings" panose="05000000000000000000" charset="0"/>
              <a:buNone/>
            </a:pPr>
            <a:endParaRPr lang="en-US" altLang="en-US" sz="1600">
              <a:solidFill>
                <a:schemeClr val="accent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643630" y="2694940"/>
            <a:ext cx="5222240" cy="2273300"/>
          </a:xfrm>
          <a:prstGeom prst="rect">
            <a:avLst/>
          </a:prstGeom>
          <a:gradFill>
            <a:gsLst>
              <a:gs pos="50000">
                <a:schemeClr val="accent6"/>
              </a:gs>
              <a:gs pos="0">
                <a:schemeClr val="accent6">
                  <a:lumMod val="25000"/>
                  <a:lumOff val="75000"/>
                </a:schemeClr>
              </a:gs>
              <a:gs pos="100000">
                <a:schemeClr val="accent6">
                  <a:lumMod val="8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 prstMaterial="matte"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IN" altLang="en-US" sz="1600" b="1">
                <a:solidFill>
                  <a:schemeClr val="accent2">
                    <a:lumMod val="75000"/>
                    <a:lumOff val="25000"/>
                  </a:schemeClr>
                </a:solidFill>
              </a:rPr>
              <a:t>Major Variables</a:t>
            </a:r>
            <a:endParaRPr lang="en-IN" altLang="en-US" sz="1600" b="1">
              <a:solidFill>
                <a:schemeClr val="accent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 sz="1600">
                <a:solidFill>
                  <a:schemeClr val="accent2">
                    <a:lumMod val="75000"/>
                    <a:lumOff val="25000"/>
                  </a:schemeClr>
                </a:solidFill>
              </a:rPr>
              <a:t>Customer:</a:t>
            </a:r>
            <a:r>
              <a:rPr lang="en-IN" altLang="en-US" sz="1600">
                <a:solidFill>
                  <a:schemeClr val="accent2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en-US" sz="1600">
                <a:solidFill>
                  <a:schemeClr val="accent2">
                    <a:lumMod val="75000"/>
                    <a:lumOff val="25000"/>
                  </a:schemeClr>
                </a:solidFill>
              </a:rPr>
              <a:t>Customer ID, Gender, Age, State, City, Account Type</a:t>
            </a:r>
            <a:endParaRPr lang="en-US" altLang="en-US" sz="1600">
              <a:solidFill>
                <a:schemeClr val="accent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 sz="1600">
                <a:solidFill>
                  <a:schemeClr val="accent2">
                    <a:lumMod val="75000"/>
                    <a:lumOff val="25000"/>
                  </a:schemeClr>
                </a:solidFill>
              </a:rPr>
              <a:t>Transaction:</a:t>
            </a:r>
            <a:r>
              <a:rPr lang="en-IN" altLang="en-US" sz="1600">
                <a:solidFill>
                  <a:schemeClr val="accent2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en-US" sz="1600">
                <a:solidFill>
                  <a:schemeClr val="accent2">
                    <a:lumMod val="75000"/>
                    <a:lumOff val="25000"/>
                  </a:schemeClr>
                </a:solidFill>
              </a:rPr>
              <a:t>Transaction ID, Date, Time, Amount, Type, Currency</a:t>
            </a:r>
            <a:endParaRPr lang="en-US" altLang="en-US" sz="1600">
              <a:solidFill>
                <a:schemeClr val="accent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 sz="1600">
                <a:solidFill>
                  <a:schemeClr val="accent2">
                    <a:lumMod val="75000"/>
                    <a:lumOff val="25000"/>
                  </a:schemeClr>
                </a:solidFill>
              </a:rPr>
              <a:t>Merchant &amp; Device:</a:t>
            </a:r>
            <a:r>
              <a:rPr lang="en-IN" altLang="en-US" sz="1600">
                <a:solidFill>
                  <a:schemeClr val="accent2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en-US" sz="1600">
                <a:solidFill>
                  <a:schemeClr val="accent2">
                    <a:lumMod val="75000"/>
                    <a:lumOff val="25000"/>
                  </a:schemeClr>
                </a:solidFill>
              </a:rPr>
              <a:t>Merchant Category, Merchant ID, Device Type, Transaction Device, Location</a:t>
            </a:r>
            <a:endParaRPr lang="en-US" altLang="en-US" sz="1600">
              <a:solidFill>
                <a:schemeClr val="accent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 sz="1600">
                <a:solidFill>
                  <a:schemeClr val="accent2">
                    <a:lumMod val="75000"/>
                    <a:lumOff val="25000"/>
                  </a:schemeClr>
                </a:solidFill>
              </a:rPr>
              <a:t>Fraud &amp; Risk:</a:t>
            </a:r>
            <a:r>
              <a:rPr lang="en-IN" altLang="en-US" sz="1600">
                <a:solidFill>
                  <a:schemeClr val="accent2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en-US" sz="1600">
                <a:solidFill>
                  <a:schemeClr val="accent2">
                    <a:lumMod val="75000"/>
                    <a:lumOff val="25000"/>
                  </a:schemeClr>
                </a:solidFill>
              </a:rPr>
              <a:t>Is_Fraud, Account Balance, Balance Utilization, Risk Score, Risk Level</a:t>
            </a:r>
            <a:endParaRPr lang="en-US" altLang="en-US" sz="1600">
              <a:solidFill>
                <a:schemeClr val="accent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菱形 6"/>
          <p:cNvSpPr/>
          <p:nvPr/>
        </p:nvSpPr>
        <p:spPr>
          <a:xfrm>
            <a:off x="1968500" y="53975"/>
            <a:ext cx="2381885" cy="1237615"/>
          </a:xfrm>
          <a:prstGeom prst="diamond">
            <a:avLst/>
          </a:prstGeom>
          <a:solidFill>
            <a:srgbClr val="494B4E"/>
          </a:solidFill>
          <a:ln>
            <a:noFill/>
          </a:ln>
          <a:effectLst>
            <a:outerShdw blurRad="431800" sx="104000" sy="104000" algn="ctr" rotWithShape="0">
              <a:schemeClr val="tx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IN" altLang="en-US" sz="1600" b="1" dirty="0">
                <a:ea typeface="Calibri" panose="020F0502020204030204" pitchFamily="34" charset="0"/>
              </a:rPr>
              <a:t>DATASET &amp;</a:t>
            </a:r>
            <a:endParaRPr lang="en-IN" altLang="en-US" sz="1600" b="1" dirty="0">
              <a:ea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en-IN" altLang="en-US" sz="1600" b="1" dirty="0">
                <a:ea typeface="Calibri" panose="020F0502020204030204" pitchFamily="34" charset="0"/>
              </a:rPr>
              <a:t>VARIABLES</a:t>
            </a:r>
            <a:endParaRPr lang="en-IN" altLang="en-US" sz="1600" b="1" dirty="0">
              <a:ea typeface="Calibri" panose="020F0502020204030204" pitchFamily="34" charset="0"/>
            </a:endParaRPr>
          </a:p>
        </p:txBody>
      </p:sp>
      <p:sp>
        <p:nvSpPr>
          <p:cNvPr id="3" name="菱形 6"/>
          <p:cNvSpPr/>
          <p:nvPr/>
        </p:nvSpPr>
        <p:spPr>
          <a:xfrm>
            <a:off x="-635" y="3105785"/>
            <a:ext cx="2958465" cy="1007110"/>
          </a:xfrm>
          <a:prstGeom prst="diamond">
            <a:avLst/>
          </a:prstGeom>
          <a:solidFill>
            <a:srgbClr val="494B4E"/>
          </a:solidFill>
          <a:ln>
            <a:noFill/>
          </a:ln>
          <a:effectLst>
            <a:outerShdw blurRad="431800" sx="104000" sy="104000" algn="ctr" rotWithShape="0">
              <a:schemeClr val="tx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IN" altLang="en-US" sz="1600" b="1" dirty="0">
                <a:ea typeface="Calibri" panose="020F0502020204030204" pitchFamily="34" charset="0"/>
              </a:rPr>
              <a:t>FRAUDULENT TRANSACTION</a:t>
            </a:r>
            <a:endParaRPr lang="en-IN" altLang="en-US" sz="1600" b="1" dirty="0">
              <a:ea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en-IN" altLang="en-US" sz="1600" dirty="0">
                <a:ea typeface="Calibri" panose="020F0502020204030204" pitchFamily="34" charset="0"/>
              </a:rPr>
              <a:t>10088</a:t>
            </a:r>
            <a:endParaRPr lang="en-IN" altLang="en-US" sz="1600" dirty="0">
              <a:ea typeface="Calibri" panose="020F0502020204030204" pitchFamily="34" charset="0"/>
            </a:endParaRPr>
          </a:p>
        </p:txBody>
      </p:sp>
      <p:sp>
        <p:nvSpPr>
          <p:cNvPr id="5" name="菱形 6"/>
          <p:cNvSpPr/>
          <p:nvPr/>
        </p:nvSpPr>
        <p:spPr>
          <a:xfrm>
            <a:off x="-635" y="2063750"/>
            <a:ext cx="2958465" cy="1042035"/>
          </a:xfrm>
          <a:prstGeom prst="diamond">
            <a:avLst/>
          </a:prstGeom>
          <a:solidFill>
            <a:srgbClr val="494B4E"/>
          </a:solidFill>
          <a:ln>
            <a:noFill/>
          </a:ln>
          <a:effectLst>
            <a:outerShdw blurRad="431800" sx="104000" sy="104000" algn="ctr" rotWithShape="0">
              <a:schemeClr val="tx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IN" altLang="en-US" sz="1600" b="1" dirty="0">
                <a:ea typeface="Calibri" panose="020F0502020204030204" pitchFamily="34" charset="0"/>
              </a:rPr>
              <a:t>TOTAL VARIABLES</a:t>
            </a:r>
            <a:endParaRPr lang="en-IN" altLang="en-US" sz="1600" b="1" dirty="0">
              <a:ea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en-IN" altLang="en-US" sz="1600" dirty="0">
                <a:ea typeface="Calibri" panose="020F0502020204030204" pitchFamily="34" charset="0"/>
              </a:rPr>
              <a:t>24</a:t>
            </a:r>
            <a:endParaRPr lang="en-IN" altLang="en-US" sz="1600" dirty="0">
              <a:ea typeface="Calibri" panose="020F0502020204030204" pitchFamily="34" charset="0"/>
            </a:endParaRPr>
          </a:p>
        </p:txBody>
      </p:sp>
      <p:sp>
        <p:nvSpPr>
          <p:cNvPr id="8" name="菱形 6"/>
          <p:cNvSpPr/>
          <p:nvPr/>
        </p:nvSpPr>
        <p:spPr>
          <a:xfrm>
            <a:off x="-635" y="4112895"/>
            <a:ext cx="2959735" cy="1030605"/>
          </a:xfrm>
          <a:prstGeom prst="diamond">
            <a:avLst/>
          </a:prstGeom>
          <a:solidFill>
            <a:srgbClr val="494B4E"/>
          </a:solidFill>
          <a:ln>
            <a:noFill/>
          </a:ln>
          <a:effectLst>
            <a:outerShdw blurRad="431800" sx="104000" sy="104000" algn="ctr" rotWithShape="0">
              <a:schemeClr val="tx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IN" altLang="en-US" sz="1600" b="1" dirty="0">
                <a:ea typeface="Calibri" panose="020F0502020204030204" pitchFamily="34" charset="0"/>
              </a:rPr>
              <a:t>FRAUD RATE</a:t>
            </a:r>
            <a:endParaRPr lang="en-IN" altLang="en-US" sz="1600" b="1" dirty="0">
              <a:ea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en-IN" altLang="en-US" sz="1600" dirty="0">
                <a:ea typeface="Calibri" panose="020F0502020204030204" pitchFamily="34" charset="0"/>
              </a:rPr>
              <a:t>5.04%</a:t>
            </a:r>
            <a:endParaRPr lang="en-IN" altLang="en-US" sz="1600" dirty="0"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" name="Rectangle 9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79905" y="979170"/>
            <a:ext cx="2273935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282" tIns="41141" rIns="82282" bIns="41141">
            <a:noAutofit/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4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Data Preparation</a:t>
            </a:r>
            <a:endParaRPr lang="en-US" altLang="en-US" sz="1400" b="1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0" name="TextBox 9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79905" y="1363980"/>
            <a:ext cx="1948815" cy="975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282" tIns="41141" rIns="82282" bIns="41141">
            <a:noAutofit/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9pPr>
          </a:lstStyle>
          <a:p>
            <a:pPr marL="171450" indent="-171450" algn="l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accent2">
                    <a:lumMod val="95000"/>
                    <a:lumOff val="5000"/>
                  </a:schemeClr>
                </a:solidFill>
                <a:latin typeface="Times New Roman" panose="02020603050405020304" charset="0"/>
                <a:ea typeface="Calibri" panose="020F0502020204030204" pitchFamily="34" charset="0"/>
                <a:cs typeface="Times New Roman" panose="02020603050405020304" charset="0"/>
                <a:sym typeface="Calibri" panose="020F0502020204030204" pitchFamily="34" charset="0"/>
              </a:rPr>
              <a:t>Microsoft Excel</a:t>
            </a:r>
            <a:endParaRPr lang="en-US" altLang="en-US" sz="1200" b="1" dirty="0">
              <a:solidFill>
                <a:schemeClr val="accent2">
                  <a:lumMod val="95000"/>
                  <a:lumOff val="5000"/>
                </a:schemeClr>
              </a:solidFill>
              <a:latin typeface="Times New Roman" panose="02020603050405020304" charset="0"/>
              <a:ea typeface="Calibri" panose="020F0502020204030204" pitchFamily="34" charset="0"/>
              <a:cs typeface="Times New Roman" panose="02020603050405020304" charset="0"/>
              <a:sym typeface="Calibri" panose="020F0502020204030204" pitchFamily="34" charset="0"/>
            </a:endParaRPr>
          </a:p>
          <a:p>
            <a:pPr marL="171450" indent="-171450" algn="l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accent2">
                    <a:lumMod val="95000"/>
                    <a:lumOff val="5000"/>
                  </a:schemeClr>
                </a:solidFill>
                <a:latin typeface="Times New Roman" panose="02020603050405020304" charset="0"/>
                <a:ea typeface="Calibri" panose="020F0502020204030204" pitchFamily="34" charset="0"/>
                <a:cs typeface="Times New Roman" panose="02020603050405020304" charset="0"/>
                <a:sym typeface="Calibri" panose="020F0502020204030204" pitchFamily="34" charset="0"/>
              </a:rPr>
              <a:t>Python – Pandas, NumPy</a:t>
            </a:r>
            <a:endParaRPr lang="en-US" altLang="en-US" sz="1200" b="1" dirty="0">
              <a:solidFill>
                <a:schemeClr val="accent2">
                  <a:lumMod val="95000"/>
                  <a:lumOff val="5000"/>
                </a:schemeClr>
              </a:solidFill>
              <a:latin typeface="Times New Roman" panose="02020603050405020304" charset="0"/>
              <a:ea typeface="Calibri" panose="020F0502020204030204" pitchFamily="34" charset="0"/>
              <a:cs typeface="Times New Roman" panose="02020603050405020304" charset="0"/>
              <a:sym typeface="Calibri" panose="020F0502020204030204" pitchFamily="34" charset="0"/>
            </a:endParaRPr>
          </a:p>
        </p:txBody>
      </p:sp>
      <p:sp>
        <p:nvSpPr>
          <p:cNvPr id="23" name="矩形 22"/>
          <p:cNvSpPr/>
          <p:nvPr>
            <p:custDataLst>
              <p:tags r:id="rId3"/>
            </p:custDataLst>
          </p:nvPr>
        </p:nvSpPr>
        <p:spPr>
          <a:xfrm>
            <a:off x="5122545" y="859790"/>
            <a:ext cx="2550160" cy="163639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9" name="Rectangle 93"/>
          <p:cNvSpPr>
            <a:spLocks noChangeArrowheads="1"/>
          </p:cNvSpPr>
          <p:nvPr/>
        </p:nvSpPr>
        <p:spPr bwMode="auto">
          <a:xfrm>
            <a:off x="2339340" y="100330"/>
            <a:ext cx="4683760" cy="450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282" tIns="41141" rIns="82282" bIns="41141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4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sym typeface="Calibri" panose="020F0502020204030204" pitchFamily="34" charset="0"/>
              </a:rPr>
              <a:t>TOOLS &amp; TECHNOLOGIES USED</a:t>
            </a:r>
            <a:endParaRPr lang="en-US" altLang="en-US" sz="2400" b="1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" name="矩形 22"/>
          <p:cNvSpPr/>
          <p:nvPr>
            <p:custDataLst>
              <p:tags r:id="rId4"/>
            </p:custDataLst>
          </p:nvPr>
        </p:nvSpPr>
        <p:spPr>
          <a:xfrm>
            <a:off x="1623060" y="2898140"/>
            <a:ext cx="2550160" cy="163639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" name="Rectangle 93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760855" y="2996565"/>
            <a:ext cx="2273935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282" tIns="41141" rIns="82282" bIns="41141">
            <a:noAutofit/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4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Data Analysis</a:t>
            </a:r>
            <a:endParaRPr lang="en-US" altLang="en-US" sz="1400" b="1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" name="TextBox 94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779905" y="3355975"/>
            <a:ext cx="1948815" cy="975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282" tIns="41141" rIns="82282" bIns="41141">
            <a:noAutofit/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9pPr>
          </a:lstStyle>
          <a:p>
            <a:pPr marL="171450" indent="-171450" algn="l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accent2">
                    <a:lumMod val="95000"/>
                    <a:lumOff val="5000"/>
                  </a:schemeClr>
                </a:solidFill>
                <a:latin typeface="Times New Roman" panose="02020603050405020304" charset="0"/>
                <a:ea typeface="Calibri" panose="020F0502020204030204" pitchFamily="34" charset="0"/>
                <a:cs typeface="Times New Roman" panose="02020603050405020304" charset="0"/>
                <a:sym typeface="Calibri" panose="020F0502020204030204" pitchFamily="34" charset="0"/>
              </a:rPr>
              <a:t>Python</a:t>
            </a:r>
            <a:endParaRPr lang="en-US" altLang="en-US" sz="1200" b="1" dirty="0">
              <a:solidFill>
                <a:schemeClr val="accent2">
                  <a:lumMod val="95000"/>
                  <a:lumOff val="5000"/>
                </a:schemeClr>
              </a:solidFill>
              <a:latin typeface="Times New Roman" panose="02020603050405020304" charset="0"/>
              <a:ea typeface="Calibri" panose="020F0502020204030204" pitchFamily="34" charset="0"/>
              <a:cs typeface="Times New Roman" panose="02020603050405020304" charset="0"/>
              <a:sym typeface="Calibri" panose="020F0502020204030204" pitchFamily="34" charset="0"/>
            </a:endParaRPr>
          </a:p>
          <a:p>
            <a:pPr marL="171450" indent="-171450" algn="l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accent2">
                    <a:lumMod val="95000"/>
                    <a:lumOff val="5000"/>
                  </a:schemeClr>
                </a:solidFill>
                <a:latin typeface="Times New Roman" panose="02020603050405020304" charset="0"/>
                <a:ea typeface="Calibri" panose="020F0502020204030204" pitchFamily="34" charset="0"/>
                <a:cs typeface="Times New Roman" panose="02020603050405020304" charset="0"/>
                <a:sym typeface="Calibri" panose="020F0502020204030204" pitchFamily="34" charset="0"/>
              </a:rPr>
              <a:t>SQL / MySQL</a:t>
            </a:r>
            <a:endParaRPr lang="en-US" altLang="en-US" sz="1200" b="1" dirty="0">
              <a:solidFill>
                <a:schemeClr val="accent2">
                  <a:lumMod val="95000"/>
                  <a:lumOff val="5000"/>
                </a:schemeClr>
              </a:solidFill>
              <a:latin typeface="Times New Roman" panose="02020603050405020304" charset="0"/>
              <a:ea typeface="Calibri" panose="020F0502020204030204" pitchFamily="34" charset="0"/>
              <a:cs typeface="Times New Roman" panose="02020603050405020304" charset="0"/>
              <a:sym typeface="Calibri" panose="020F0502020204030204" pitchFamily="34" charset="0"/>
            </a:endParaRPr>
          </a:p>
          <a:p>
            <a:pPr marL="171450" indent="-171450" algn="l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accent2">
                    <a:lumMod val="95000"/>
                    <a:lumOff val="5000"/>
                  </a:schemeClr>
                </a:solidFill>
                <a:latin typeface="Times New Roman" panose="02020603050405020304" charset="0"/>
                <a:ea typeface="Calibri" panose="020F0502020204030204" pitchFamily="34" charset="0"/>
                <a:cs typeface="Times New Roman" panose="02020603050405020304" charset="0"/>
                <a:sym typeface="Calibri" panose="020F0502020204030204" pitchFamily="34" charset="0"/>
              </a:rPr>
              <a:t>MongoDB</a:t>
            </a:r>
            <a:endParaRPr lang="en-US" altLang="en-US" sz="1200" b="1" dirty="0">
              <a:solidFill>
                <a:schemeClr val="accent2">
                  <a:lumMod val="95000"/>
                  <a:lumOff val="5000"/>
                </a:schemeClr>
              </a:solidFill>
              <a:latin typeface="Times New Roman" panose="02020603050405020304" charset="0"/>
              <a:ea typeface="Calibri" panose="020F0502020204030204" pitchFamily="34" charset="0"/>
              <a:cs typeface="Times New Roman" panose="02020603050405020304" charset="0"/>
              <a:sym typeface="Calibri" panose="020F0502020204030204" pitchFamily="34" charset="0"/>
            </a:endParaRPr>
          </a:p>
        </p:txBody>
      </p:sp>
      <p:sp>
        <p:nvSpPr>
          <p:cNvPr id="5" name="矩形 22"/>
          <p:cNvSpPr/>
          <p:nvPr>
            <p:custDataLst>
              <p:tags r:id="rId7"/>
            </p:custDataLst>
          </p:nvPr>
        </p:nvSpPr>
        <p:spPr>
          <a:xfrm>
            <a:off x="1623060" y="857250"/>
            <a:ext cx="2550160" cy="163639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6" name="矩形 22"/>
          <p:cNvSpPr/>
          <p:nvPr>
            <p:custDataLst>
              <p:tags r:id="rId8"/>
            </p:custDataLst>
          </p:nvPr>
        </p:nvSpPr>
        <p:spPr>
          <a:xfrm>
            <a:off x="5122545" y="2898140"/>
            <a:ext cx="2550160" cy="163639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" name="TextBox 94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487035" y="3440430"/>
            <a:ext cx="1948815" cy="975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282" tIns="41141" rIns="82282" bIns="41141">
            <a:noAutofit/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9pPr>
          </a:lstStyle>
          <a:p>
            <a:pPr marL="171450" indent="-171450" algn="l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1200" b="1" dirty="0">
                <a:solidFill>
                  <a:schemeClr val="accent2">
                    <a:lumMod val="95000"/>
                    <a:lumOff val="5000"/>
                  </a:schemeClr>
                </a:solidFill>
                <a:latin typeface="Times New Roman" panose="02020603050405020304" charset="0"/>
                <a:ea typeface="Calibri" panose="020F0502020204030204" pitchFamily="34" charset="0"/>
                <a:cs typeface="Times New Roman" panose="02020603050405020304" charset="0"/>
                <a:sym typeface="Calibri" panose="020F0502020204030204" pitchFamily="34" charset="0"/>
              </a:rPr>
              <a:t>VS Code</a:t>
            </a:r>
            <a:endParaRPr lang="en-IN" altLang="en-US" sz="1200" b="1" dirty="0">
              <a:solidFill>
                <a:schemeClr val="accent2">
                  <a:lumMod val="95000"/>
                  <a:lumOff val="5000"/>
                </a:schemeClr>
              </a:solidFill>
              <a:latin typeface="Times New Roman" panose="02020603050405020304" charset="0"/>
              <a:ea typeface="Calibri" panose="020F0502020204030204" pitchFamily="34" charset="0"/>
              <a:cs typeface="Times New Roman" panose="02020603050405020304" charset="0"/>
              <a:sym typeface="Calibri" panose="020F0502020204030204" pitchFamily="34" charset="0"/>
            </a:endParaRPr>
          </a:p>
        </p:txBody>
      </p:sp>
      <p:sp>
        <p:nvSpPr>
          <p:cNvPr id="8" name="TextBox 94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487035" y="1363980"/>
            <a:ext cx="1948815" cy="975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282" tIns="41141" rIns="82282" bIns="41141">
            <a:noAutofit/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9pPr>
          </a:lstStyle>
          <a:p>
            <a:pPr marL="171450" indent="-171450" algn="l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accent2">
                    <a:lumMod val="95000"/>
                    <a:lumOff val="5000"/>
                  </a:schemeClr>
                </a:solidFill>
                <a:latin typeface="Times New Roman" panose="02020603050405020304" charset="0"/>
                <a:ea typeface="Calibri" panose="020F0502020204030204" pitchFamily="34" charset="0"/>
                <a:cs typeface="Times New Roman" panose="02020603050405020304" charset="0"/>
                <a:sym typeface="Calibri" panose="020F0502020204030204" pitchFamily="34" charset="0"/>
              </a:rPr>
              <a:t>Power BI</a:t>
            </a:r>
            <a:endParaRPr lang="en-US" altLang="en-US" sz="1200" b="1" dirty="0">
              <a:solidFill>
                <a:schemeClr val="accent2">
                  <a:lumMod val="95000"/>
                  <a:lumOff val="5000"/>
                </a:schemeClr>
              </a:solidFill>
              <a:latin typeface="Times New Roman" panose="02020603050405020304" charset="0"/>
              <a:ea typeface="Calibri" panose="020F0502020204030204" pitchFamily="34" charset="0"/>
              <a:cs typeface="Times New Roman" panose="02020603050405020304" charset="0"/>
              <a:sym typeface="Calibri" panose="020F0502020204030204" pitchFamily="34" charset="0"/>
            </a:endParaRPr>
          </a:p>
          <a:p>
            <a:pPr marL="171450" indent="-171450" algn="l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accent2">
                    <a:lumMod val="95000"/>
                    <a:lumOff val="5000"/>
                  </a:schemeClr>
                </a:solidFill>
                <a:latin typeface="Times New Roman" panose="02020603050405020304" charset="0"/>
                <a:ea typeface="Calibri" panose="020F0502020204030204" pitchFamily="34" charset="0"/>
                <a:cs typeface="Times New Roman" panose="02020603050405020304" charset="0"/>
                <a:sym typeface="Calibri" panose="020F0502020204030204" pitchFamily="34" charset="0"/>
              </a:rPr>
              <a:t>Tableau</a:t>
            </a:r>
            <a:endParaRPr lang="en-US" altLang="en-US" sz="1200" b="1" dirty="0">
              <a:solidFill>
                <a:schemeClr val="accent2">
                  <a:lumMod val="95000"/>
                  <a:lumOff val="5000"/>
                </a:schemeClr>
              </a:solidFill>
              <a:latin typeface="Times New Roman" panose="02020603050405020304" charset="0"/>
              <a:ea typeface="Calibri" panose="020F0502020204030204" pitchFamily="34" charset="0"/>
              <a:cs typeface="Times New Roman" panose="02020603050405020304" charset="0"/>
              <a:sym typeface="Calibri" panose="020F0502020204030204" pitchFamily="34" charset="0"/>
            </a:endParaRPr>
          </a:p>
          <a:p>
            <a:pPr marL="171450" indent="-171450" algn="l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accent2">
                    <a:lumMod val="95000"/>
                    <a:lumOff val="5000"/>
                  </a:schemeClr>
                </a:solidFill>
                <a:latin typeface="Times New Roman" panose="02020603050405020304" charset="0"/>
                <a:ea typeface="Calibri" panose="020F0502020204030204" pitchFamily="34" charset="0"/>
                <a:cs typeface="Times New Roman" panose="02020603050405020304" charset="0"/>
                <a:sym typeface="Calibri" panose="020F0502020204030204" pitchFamily="34" charset="0"/>
              </a:rPr>
              <a:t>Matplotlib</a:t>
            </a:r>
            <a:endParaRPr lang="en-US" altLang="en-US" sz="1200" b="1" dirty="0">
              <a:solidFill>
                <a:schemeClr val="accent2">
                  <a:lumMod val="95000"/>
                  <a:lumOff val="5000"/>
                </a:schemeClr>
              </a:solidFill>
              <a:latin typeface="Times New Roman" panose="02020603050405020304" charset="0"/>
              <a:ea typeface="Calibri" panose="020F0502020204030204" pitchFamily="34" charset="0"/>
              <a:cs typeface="Times New Roman" panose="02020603050405020304" charset="0"/>
              <a:sym typeface="Calibri" panose="020F0502020204030204" pitchFamily="34" charset="0"/>
            </a:endParaRPr>
          </a:p>
        </p:txBody>
      </p:sp>
      <p:sp>
        <p:nvSpPr>
          <p:cNvPr id="9" name="Rectangle 93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260975" y="2996565"/>
            <a:ext cx="2273935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282" tIns="41141" rIns="82282" bIns="41141">
            <a:noAutofit/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4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Development</a:t>
            </a:r>
            <a:endParaRPr lang="en-US" altLang="en-US" sz="1400" b="1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1" name="Rectangle 93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260975" y="979170"/>
            <a:ext cx="2273935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282" tIns="41141" rIns="82282" bIns="41141">
            <a:noAutofit/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4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Data Visualization</a:t>
            </a:r>
            <a:endParaRPr lang="en-US" altLang="en-US" sz="1400" b="1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菱形 6"/>
          <p:cNvSpPr/>
          <p:nvPr/>
        </p:nvSpPr>
        <p:spPr>
          <a:xfrm>
            <a:off x="-99060" y="491490"/>
            <a:ext cx="3027680" cy="1237615"/>
          </a:xfrm>
          <a:prstGeom prst="diamond">
            <a:avLst/>
          </a:prstGeom>
          <a:solidFill>
            <a:srgbClr val="494B4E"/>
          </a:solidFill>
          <a:ln>
            <a:noFill/>
          </a:ln>
          <a:effectLst>
            <a:outerShdw blurRad="431800" sx="104000" sy="104000" algn="ctr" rotWithShape="0">
              <a:schemeClr val="tx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en-US" sz="1600" dirty="0">
                <a:solidFill>
                  <a:schemeClr val="accent4">
                    <a:lumMod val="20000"/>
                    <a:lumOff val="80000"/>
                  </a:schemeClr>
                </a:solidFill>
                <a:ea typeface="Calibri" panose="020F0502020204030204" pitchFamily="34" charset="0"/>
                <a:sym typeface="+mn-ea"/>
              </a:rPr>
              <a:t>Raw Data</a:t>
            </a:r>
            <a:endParaRPr lang="en-US" altLang="en-US" sz="1600" dirty="0">
              <a:solidFill>
                <a:schemeClr val="accent4">
                  <a:lumMod val="20000"/>
                  <a:lumOff val="80000"/>
                </a:schemeClr>
              </a:solidFill>
              <a:ea typeface="Calibri" panose="020F0502020204030204" pitchFamily="34" charset="0"/>
              <a:sym typeface="+mn-ea"/>
            </a:endParaRPr>
          </a:p>
        </p:txBody>
      </p:sp>
      <p:sp>
        <p:nvSpPr>
          <p:cNvPr id="3" name="菱形 6"/>
          <p:cNvSpPr/>
          <p:nvPr/>
        </p:nvSpPr>
        <p:spPr>
          <a:xfrm>
            <a:off x="635" y="2954020"/>
            <a:ext cx="3027680" cy="1237615"/>
          </a:xfrm>
          <a:prstGeom prst="diamond">
            <a:avLst/>
          </a:prstGeom>
          <a:solidFill>
            <a:srgbClr val="494B4E"/>
          </a:solidFill>
          <a:ln>
            <a:noFill/>
          </a:ln>
          <a:effectLst>
            <a:outerShdw blurRad="431800" sx="104000" sy="104000" algn="ctr" rotWithShape="0">
              <a:schemeClr val="tx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en-US" sz="1600" dirty="0">
                <a:solidFill>
                  <a:schemeClr val="accent4">
                    <a:lumMod val="20000"/>
                    <a:lumOff val="80000"/>
                  </a:schemeClr>
                </a:solidFill>
                <a:ea typeface="Calibri" panose="020F0502020204030204" pitchFamily="34" charset="0"/>
                <a:sym typeface="+mn-ea"/>
              </a:rPr>
              <a:t>Clean Dataset</a:t>
            </a:r>
            <a:endParaRPr lang="en-US" altLang="en-US" sz="1600" dirty="0">
              <a:solidFill>
                <a:schemeClr val="accent4">
                  <a:lumMod val="20000"/>
                  <a:lumOff val="80000"/>
                </a:schemeClr>
              </a:solidFill>
              <a:ea typeface="Calibri" panose="020F0502020204030204" pitchFamily="34" charset="0"/>
              <a:sym typeface="+mn-ea"/>
            </a:endParaRPr>
          </a:p>
        </p:txBody>
      </p:sp>
      <p:sp>
        <p:nvSpPr>
          <p:cNvPr id="4" name="菱形 6"/>
          <p:cNvSpPr/>
          <p:nvPr/>
        </p:nvSpPr>
        <p:spPr>
          <a:xfrm>
            <a:off x="0" y="1278890"/>
            <a:ext cx="3027680" cy="1237615"/>
          </a:xfrm>
          <a:prstGeom prst="diamond">
            <a:avLst/>
          </a:prstGeom>
          <a:solidFill>
            <a:srgbClr val="494B4E"/>
          </a:solidFill>
          <a:ln>
            <a:noFill/>
          </a:ln>
          <a:effectLst>
            <a:outerShdw blurRad="431800" sx="104000" sy="104000" algn="ctr" rotWithShape="0">
              <a:schemeClr val="tx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en-US" sz="1600" dirty="0">
                <a:solidFill>
                  <a:schemeClr val="accent4">
                    <a:lumMod val="20000"/>
                    <a:lumOff val="80000"/>
                  </a:schemeClr>
                </a:solidFill>
                <a:ea typeface="Calibri" panose="020F0502020204030204" pitchFamily="34" charset="0"/>
                <a:sym typeface="+mn-ea"/>
              </a:rPr>
              <a:t>Data Quality Checks</a:t>
            </a:r>
            <a:endParaRPr lang="en-US" altLang="en-US" sz="1600" dirty="0">
              <a:solidFill>
                <a:schemeClr val="accent4">
                  <a:lumMod val="20000"/>
                  <a:lumOff val="80000"/>
                </a:schemeClr>
              </a:solidFill>
              <a:ea typeface="Calibri" panose="020F0502020204030204" pitchFamily="34" charset="0"/>
              <a:sym typeface="+mn-ea"/>
            </a:endParaRPr>
          </a:p>
        </p:txBody>
      </p:sp>
      <p:sp>
        <p:nvSpPr>
          <p:cNvPr id="5" name="菱形 6"/>
          <p:cNvSpPr/>
          <p:nvPr/>
        </p:nvSpPr>
        <p:spPr>
          <a:xfrm>
            <a:off x="635" y="2199005"/>
            <a:ext cx="3027680" cy="1237615"/>
          </a:xfrm>
          <a:prstGeom prst="diamond">
            <a:avLst/>
          </a:prstGeom>
          <a:solidFill>
            <a:srgbClr val="494B4E"/>
          </a:solidFill>
          <a:ln>
            <a:noFill/>
          </a:ln>
          <a:effectLst>
            <a:outerShdw blurRad="431800" sx="104000" sy="104000" algn="ctr" rotWithShape="0">
              <a:schemeClr val="tx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en-US" sz="1600" dirty="0">
                <a:solidFill>
                  <a:schemeClr val="accent4">
                    <a:lumMod val="20000"/>
                    <a:lumOff val="80000"/>
                  </a:schemeClr>
                </a:solidFill>
                <a:ea typeface="Calibri" panose="020F0502020204030204" pitchFamily="34" charset="0"/>
                <a:sym typeface="+mn-ea"/>
              </a:rPr>
              <a:t>Validation</a:t>
            </a:r>
            <a:endParaRPr lang="en-US" altLang="en-US" sz="1600" dirty="0">
              <a:solidFill>
                <a:schemeClr val="accent4">
                  <a:lumMod val="20000"/>
                  <a:lumOff val="80000"/>
                </a:schemeClr>
              </a:solidFill>
              <a:ea typeface="Calibri" panose="020F0502020204030204" pitchFamily="34" charset="0"/>
              <a:sym typeface="+mn-ea"/>
            </a:endParaRPr>
          </a:p>
        </p:txBody>
      </p:sp>
      <p:sp>
        <p:nvSpPr>
          <p:cNvPr id="6" name="菱形 6"/>
          <p:cNvSpPr/>
          <p:nvPr/>
        </p:nvSpPr>
        <p:spPr>
          <a:xfrm>
            <a:off x="635" y="3905885"/>
            <a:ext cx="3027680" cy="1237615"/>
          </a:xfrm>
          <a:prstGeom prst="diamond">
            <a:avLst/>
          </a:prstGeom>
          <a:solidFill>
            <a:srgbClr val="494B4E"/>
          </a:solidFill>
          <a:ln>
            <a:noFill/>
          </a:ln>
          <a:effectLst>
            <a:outerShdw blurRad="431800" sx="104000" sy="104000" algn="ctr" rotWithShape="0">
              <a:schemeClr val="tx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en-US" sz="1600" dirty="0">
                <a:solidFill>
                  <a:schemeClr val="accent4">
                    <a:lumMod val="20000"/>
                    <a:lumOff val="80000"/>
                  </a:schemeClr>
                </a:solidFill>
                <a:ea typeface="Calibri" panose="020F0502020204030204" pitchFamily="34" charset="0"/>
                <a:sym typeface="+mn-ea"/>
              </a:rPr>
              <a:t>Analysis</a:t>
            </a:r>
            <a:endParaRPr lang="en-US" altLang="en-US" sz="1600" dirty="0">
              <a:solidFill>
                <a:schemeClr val="accent4">
                  <a:lumMod val="20000"/>
                  <a:lumOff val="80000"/>
                </a:schemeClr>
              </a:solidFill>
              <a:ea typeface="Calibri" panose="020F0502020204030204" pitchFamily="34" charset="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314960" y="154305"/>
            <a:ext cx="3048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1600" b="1">
                <a:solidFill>
                  <a:schemeClr val="accent5">
                    <a:lumMod val="75000"/>
                  </a:schemeClr>
                </a:solidFill>
              </a:rPr>
              <a:t>CLEANING PROCESS</a:t>
            </a:r>
            <a:endParaRPr lang="en-IN" altLang="en-US" sz="1600" b="1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5925820" y="205740"/>
            <a:ext cx="3048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1600" b="1">
                <a:solidFill>
                  <a:schemeClr val="accent5">
                    <a:lumMod val="75000"/>
                  </a:schemeClr>
                </a:solidFill>
              </a:rPr>
              <a:t>VALIDATION RESULTS</a:t>
            </a:r>
            <a:endParaRPr lang="en-IN" altLang="en-US" sz="1600" b="1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5836920" y="961390"/>
            <a:ext cx="3226435" cy="2475230"/>
          </a:xfrm>
          <a:prstGeom prst="rect">
            <a:avLst/>
          </a:prstGeom>
          <a:gradFill>
            <a:gsLst>
              <a:gs pos="50000">
                <a:schemeClr val="accent6"/>
              </a:gs>
              <a:gs pos="0">
                <a:schemeClr val="accent6">
                  <a:lumMod val="25000"/>
                  <a:lumOff val="75000"/>
                </a:schemeClr>
              </a:gs>
              <a:gs pos="100000">
                <a:schemeClr val="accent6">
                  <a:lumMod val="8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 prstMaterial="matte"/>
        </p:spPr>
        <p:txBody>
          <a:bodyPr wrap="square" rtlCol="0">
            <a:noAutofit/>
          </a:bodyPr>
          <a:p>
            <a:r>
              <a:rPr lang="en-US" altLang="en-US" sz="1600" b="1">
                <a:solidFill>
                  <a:schemeClr val="accent2">
                    <a:lumMod val="75000"/>
                    <a:lumOff val="25000"/>
                  </a:schemeClr>
                </a:solidFill>
              </a:rPr>
              <a:t>Dataset Overview</a:t>
            </a:r>
            <a:endParaRPr lang="en-US" altLang="en-US" sz="1600" b="1">
              <a:solidFill>
                <a:schemeClr val="accent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 sz="1600">
                <a:solidFill>
                  <a:schemeClr val="accent2">
                    <a:lumMod val="75000"/>
                    <a:lumOff val="25000"/>
                  </a:schemeClr>
                </a:solidFill>
              </a:rPr>
              <a:t>Missing Values</a:t>
            </a:r>
            <a:r>
              <a:rPr lang="en-IN" altLang="en-US" sz="1600">
                <a:solidFill>
                  <a:schemeClr val="accent2">
                    <a:lumMod val="75000"/>
                    <a:lumOff val="25000"/>
                  </a:schemeClr>
                </a:solidFill>
              </a:rPr>
              <a:t>  : 0</a:t>
            </a:r>
            <a:endParaRPr lang="en-US" altLang="en-US" sz="1600">
              <a:solidFill>
                <a:schemeClr val="accent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IN" altLang="en-US" sz="1600">
                <a:solidFill>
                  <a:schemeClr val="accent2">
                    <a:lumMod val="75000"/>
                    <a:lumOff val="25000"/>
                  </a:schemeClr>
                </a:solidFill>
              </a:rPr>
              <a:t>Duplicate Rows : 0</a:t>
            </a:r>
            <a:endParaRPr lang="en-IN" altLang="en-US" sz="1600">
              <a:solidFill>
                <a:schemeClr val="accent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IN" altLang="en-US" sz="1600">
                <a:solidFill>
                  <a:schemeClr val="accent2">
                    <a:lumMod val="75000"/>
                    <a:lumOff val="25000"/>
                  </a:schemeClr>
                </a:solidFill>
              </a:rPr>
              <a:t>Invalid Age : 0</a:t>
            </a:r>
            <a:endParaRPr lang="en-US" altLang="en-US" sz="1600">
              <a:solidFill>
                <a:schemeClr val="accent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IN" altLang="en-US" sz="1600">
                <a:solidFill>
                  <a:schemeClr val="accent2">
                    <a:lumMod val="75000"/>
                    <a:lumOff val="25000"/>
                  </a:schemeClr>
                </a:solidFill>
              </a:rPr>
              <a:t>I</a:t>
            </a:r>
            <a:r>
              <a:rPr lang="en-US" altLang="en-US" sz="1600">
                <a:solidFill>
                  <a:schemeClr val="accent2">
                    <a:lumMod val="75000"/>
                    <a:lumOff val="25000"/>
                  </a:schemeClr>
                </a:solidFill>
              </a:rPr>
              <a:t>nvalid Transaction Amount</a:t>
            </a:r>
            <a:r>
              <a:rPr lang="en-IN" altLang="en-US" sz="1600">
                <a:solidFill>
                  <a:schemeClr val="accent2">
                    <a:lumMod val="75000"/>
                    <a:lumOff val="25000"/>
                  </a:schemeClr>
                </a:solidFill>
              </a:rPr>
              <a:t> : 0</a:t>
            </a:r>
            <a:endParaRPr lang="en-US" altLang="en-US" sz="1600">
              <a:solidFill>
                <a:schemeClr val="accent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 sz="1600">
                <a:solidFill>
                  <a:schemeClr val="accent2">
                    <a:lumMod val="75000"/>
                    <a:lumOff val="25000"/>
                  </a:schemeClr>
                </a:solidFill>
              </a:rPr>
              <a:t>Invalid Account Balance</a:t>
            </a:r>
            <a:r>
              <a:rPr lang="en-IN" altLang="en-US" sz="1600">
                <a:solidFill>
                  <a:schemeClr val="accent2">
                    <a:lumMod val="75000"/>
                    <a:lumOff val="25000"/>
                  </a:schemeClr>
                </a:solidFill>
              </a:rPr>
              <a:t> : 0</a:t>
            </a:r>
            <a:endParaRPr lang="en-US" altLang="en-US" sz="1600">
              <a:solidFill>
                <a:schemeClr val="accent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 sz="1600">
                <a:solidFill>
                  <a:schemeClr val="accent2">
                    <a:lumMod val="75000"/>
                    <a:lumOff val="25000"/>
                  </a:schemeClr>
                </a:solidFill>
              </a:rPr>
              <a:t>Invalid Is_Fraud Values</a:t>
            </a:r>
            <a:r>
              <a:rPr lang="en-IN" altLang="en-US" sz="1600">
                <a:solidFill>
                  <a:schemeClr val="accent2">
                    <a:lumMod val="75000"/>
                    <a:lumOff val="25000"/>
                  </a:schemeClr>
                </a:solidFill>
              </a:rPr>
              <a:t> : 0</a:t>
            </a:r>
            <a:endParaRPr lang="en-US" altLang="en-US" sz="1600">
              <a:solidFill>
                <a:schemeClr val="accent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 sz="1600">
                <a:solidFill>
                  <a:schemeClr val="accent2">
                    <a:lumMod val="75000"/>
                    <a:lumOff val="25000"/>
                  </a:schemeClr>
                </a:solidFill>
              </a:rPr>
              <a:t>Invalid Currency</a:t>
            </a:r>
            <a:r>
              <a:rPr lang="en-IN" altLang="en-US" sz="1600">
                <a:solidFill>
                  <a:schemeClr val="accent2">
                    <a:lumMod val="75000"/>
                    <a:lumOff val="25000"/>
                  </a:schemeClr>
                </a:solidFill>
              </a:rPr>
              <a:t> : 0</a:t>
            </a:r>
            <a:endParaRPr lang="en-US" altLang="en-US" sz="1600">
              <a:solidFill>
                <a:schemeClr val="accent2">
                  <a:lumMod val="75000"/>
                  <a:lumOff val="25000"/>
                </a:schemeClr>
              </a:solidFill>
            </a:endParaRPr>
          </a:p>
          <a:p>
            <a:pPr indent="0">
              <a:buFont typeface="Wingdings" panose="05000000000000000000" charset="0"/>
              <a:buNone/>
            </a:pPr>
            <a:endParaRPr lang="en-IN" altLang="en-US" sz="1600">
              <a:solidFill>
                <a:schemeClr val="accent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3156585" y="1651635"/>
            <a:ext cx="2552700" cy="1418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sz="2800" b="1">
                <a:solidFill>
                  <a:schemeClr val="accent2">
                    <a:lumMod val="95000"/>
                    <a:lumOff val="5000"/>
                  </a:schemeClr>
                </a:solidFill>
              </a:rPr>
              <a:t>DATA CLEANING AND PRE PROCESSING</a:t>
            </a:r>
            <a:endParaRPr lang="en-IN" altLang="en-US" sz="2800" b="1">
              <a:solidFill>
                <a:schemeClr val="accent2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143760" y="59690"/>
            <a:ext cx="47955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 b="1">
                <a:solidFill>
                  <a:schemeClr val="accent2">
                    <a:lumMod val="95000"/>
                    <a:lumOff val="5000"/>
                  </a:schemeClr>
                </a:solidFill>
              </a:rPr>
              <a:t>EXPLORATORY DATA ANALYSIS (EDA)</a:t>
            </a:r>
            <a:endParaRPr lang="en-US" altLang="en-US" sz="2400" b="1">
              <a:solidFill>
                <a:schemeClr val="accent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708025" y="1064260"/>
            <a:ext cx="6805295" cy="29927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>
                <a:solidFill>
                  <a:schemeClr val="tx2">
                    <a:lumMod val="75000"/>
                  </a:schemeClr>
                </a:solidFill>
              </a:rPr>
              <a:t>Analyzed the overall fraud vs. genuine transaction distribution.</a:t>
            </a:r>
            <a:endParaRPr lang="en-US" altLang="en-US" sz="180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>
                <a:solidFill>
                  <a:schemeClr val="tx2">
                    <a:lumMod val="75000"/>
                  </a:schemeClr>
                </a:solidFill>
              </a:rPr>
              <a:t>Examined fraud patterns across gender, age group, account type, and state.</a:t>
            </a:r>
            <a:endParaRPr lang="en-US" altLang="en-US" sz="180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>
                <a:solidFill>
                  <a:schemeClr val="tx2">
                    <a:lumMod val="75000"/>
                  </a:schemeClr>
                </a:solidFill>
              </a:rPr>
              <a:t>Analyzed fraud rates by transaction type and merchant category.</a:t>
            </a:r>
            <a:endParaRPr lang="en-US" altLang="en-US" sz="180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>
                <a:solidFill>
                  <a:schemeClr val="tx2">
                    <a:lumMod val="75000"/>
                  </a:schemeClr>
                </a:solidFill>
              </a:rPr>
              <a:t>Studied fraud patterns across devices, locations, day of week, and time of day.</a:t>
            </a:r>
            <a:endParaRPr lang="en-US" altLang="en-US" sz="180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>
                <a:solidFill>
                  <a:schemeClr val="tx2">
                    <a:lumMod val="75000"/>
                  </a:schemeClr>
                </a:solidFill>
              </a:rPr>
              <a:t>Compared transaction amounts and account balances between fraud and genuine transactions.</a:t>
            </a:r>
            <a:endParaRPr lang="en-US" altLang="en-US" sz="180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>
                <a:solidFill>
                  <a:schemeClr val="tx2">
                    <a:lumMod val="75000"/>
                  </a:schemeClr>
                </a:solidFill>
              </a:rPr>
              <a:t>Used statistical summaries and visualizations to identify important patterns.</a:t>
            </a:r>
            <a:endParaRPr lang="en-US" altLang="en-US" sz="180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413635" y="59690"/>
            <a:ext cx="47955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 b="1">
                <a:solidFill>
                  <a:schemeClr val="accent2">
                    <a:lumMod val="95000"/>
                    <a:lumOff val="5000"/>
                  </a:schemeClr>
                </a:solidFill>
              </a:rPr>
              <a:t>F</a:t>
            </a:r>
            <a:r>
              <a:rPr lang="en-IN" altLang="en-US" sz="2400" b="1">
                <a:solidFill>
                  <a:schemeClr val="accent2">
                    <a:lumMod val="95000"/>
                    <a:lumOff val="5000"/>
                  </a:schemeClr>
                </a:solidFill>
              </a:rPr>
              <a:t>EATURE ENGINEERING</a:t>
            </a:r>
            <a:endParaRPr lang="en-IN" altLang="en-US" sz="2400" b="1">
              <a:solidFill>
                <a:schemeClr val="accent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39750" y="760730"/>
            <a:ext cx="7056755" cy="3766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tx2">
                    <a:lumMod val="75000"/>
                  </a:schemeClr>
                </a:solidFill>
              </a:rPr>
              <a:t>Hour – Extracted from transaction time</a:t>
            </a:r>
            <a:endParaRPr lang="en-US" altLang="en-US" sz="160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tx2">
                    <a:lumMod val="75000"/>
                  </a:schemeClr>
                </a:solidFill>
              </a:rPr>
              <a:t>Age Group – Categorized customers by age</a:t>
            </a:r>
            <a:endParaRPr lang="en-US" altLang="en-US" sz="160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tx2">
                    <a:lumMod val="75000"/>
                  </a:schemeClr>
                </a:solidFill>
              </a:rPr>
              <a:t>Day Name – Derived from transaction date</a:t>
            </a:r>
            <a:endParaRPr lang="en-US" altLang="en-US" sz="160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tx2">
                    <a:lumMod val="75000"/>
                  </a:schemeClr>
                </a:solidFill>
              </a:rPr>
              <a:t>Month Name – Derived from transaction date</a:t>
            </a:r>
            <a:endParaRPr lang="en-US" altLang="en-US" sz="160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tx2">
                    <a:lumMod val="75000"/>
                  </a:schemeClr>
                </a:solidFill>
              </a:rPr>
              <a:t>Transaction Size – Categorized by transaction amount</a:t>
            </a:r>
            <a:endParaRPr lang="en-US" altLang="en-US" sz="160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tx2">
                    <a:lumMod val="75000"/>
                  </a:schemeClr>
                </a:solidFill>
              </a:rPr>
              <a:t>Balance Category – Categorized by account balance</a:t>
            </a:r>
            <a:endParaRPr lang="en-US" altLang="en-US" sz="160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tx2">
                    <a:lumMod val="75000"/>
                  </a:schemeClr>
                </a:solidFill>
              </a:rPr>
              <a:t>Time of Day – Classified into Late Night, Morning, Afternoon, and Evening</a:t>
            </a:r>
            <a:endParaRPr lang="en-US" altLang="en-US" sz="160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tx2">
                    <a:lumMod val="75000"/>
                  </a:schemeClr>
                </a:solidFill>
              </a:rPr>
              <a:t>Balance Utilization – Calculated as Transaction Amount ÷ Account Balance</a:t>
            </a:r>
            <a:endParaRPr lang="en-US" altLang="en-US" sz="160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tx2">
                    <a:lumMod val="75000"/>
                  </a:schemeClr>
                </a:solidFill>
              </a:rPr>
              <a:t>Risk Score &amp; Risk Level – Created using predefined business rules</a:t>
            </a:r>
            <a:endParaRPr lang="en-US" altLang="en-US" sz="160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00405" y="59690"/>
            <a:ext cx="65087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 b="1">
                <a:solidFill>
                  <a:schemeClr val="accent2">
                    <a:lumMod val="95000"/>
                    <a:lumOff val="5000"/>
                  </a:schemeClr>
                </a:solidFill>
              </a:rPr>
              <a:t>RULE-BASED RISK SCORING METHODOLOGY</a:t>
            </a:r>
            <a:endParaRPr lang="en-US" altLang="en-US" sz="2400" b="1">
              <a:solidFill>
                <a:schemeClr val="accent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62585" y="432435"/>
            <a:ext cx="3048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600" b="1"/>
              <a:t>Risk Scoring Approach</a:t>
            </a:r>
            <a:endParaRPr lang="en-US" altLang="en-US" sz="1600" b="1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335915" y="843280"/>
          <a:ext cx="8491220" cy="2166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1655"/>
                <a:gridCol w="4139565"/>
              </a:tblGrid>
              <a:tr h="321310"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Risk Factor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Score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</a:tr>
              <a:tr h="386715"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Very High Transaction Size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+30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</a:tr>
              <a:tr h="336550"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High Transaction Size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+20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</a:tr>
              <a:tr h="348615"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Late Night Transaction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+20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</a:tr>
              <a:tr h="387350"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Very High Account Balance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+15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</a:tr>
              <a:tr h="386080"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Balance Utilization &gt; 2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+35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sp>
        <p:nvSpPr>
          <p:cNvPr id="9" name="Text Box 8"/>
          <p:cNvSpPr txBox="1"/>
          <p:nvPr/>
        </p:nvSpPr>
        <p:spPr>
          <a:xfrm>
            <a:off x="362585" y="2985770"/>
            <a:ext cx="68554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600" b="1"/>
              <a:t>Risk Level Classification</a:t>
            </a:r>
            <a:endParaRPr lang="en-US" altLang="en-US" sz="1600" b="1"/>
          </a:p>
        </p:txBody>
      </p:sp>
      <p:graphicFrame>
        <p:nvGraphicFramePr>
          <p:cNvPr id="10" name="Table 9"/>
          <p:cNvGraphicFramePr/>
          <p:nvPr>
            <p:custDataLst>
              <p:tags r:id="rId2"/>
            </p:custDataLst>
          </p:nvPr>
        </p:nvGraphicFramePr>
        <p:xfrm>
          <a:off x="335915" y="3333750"/>
          <a:ext cx="8491220" cy="1372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1655"/>
                <a:gridCol w="4139565"/>
              </a:tblGrid>
              <a:tr h="300990"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Risk Level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Score Range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</a:tr>
              <a:tr h="386715"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Low Risk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≤ 20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</a:tr>
              <a:tr h="336550"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Medium Risk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21–50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</a:tr>
              <a:tr h="348615"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High Risk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&gt; 50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sp>
        <p:nvSpPr>
          <p:cNvPr id="14" name="Text Box 13"/>
          <p:cNvSpPr txBox="1"/>
          <p:nvPr/>
        </p:nvSpPr>
        <p:spPr>
          <a:xfrm>
            <a:off x="361950" y="4776470"/>
            <a:ext cx="7807325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The Risk Score is a manually defined heuristic and is not an ML-generated score.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964815" y="71755"/>
            <a:ext cx="304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 b="1">
                <a:solidFill>
                  <a:schemeClr val="tx2">
                    <a:lumMod val="50000"/>
                  </a:schemeClr>
                </a:solidFill>
              </a:rPr>
              <a:t>RISK LEVEL ANALYSIS</a:t>
            </a:r>
            <a:endParaRPr lang="en-US" altLang="en-US" sz="2000" b="1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71805" y="470535"/>
            <a:ext cx="3048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600" b="1"/>
              <a:t>Risk Level Distribution</a:t>
            </a:r>
            <a:endParaRPr lang="en-US" altLang="en-US" sz="1600" b="1"/>
          </a:p>
        </p:txBody>
      </p:sp>
      <p:graphicFrame>
        <p:nvGraphicFramePr>
          <p:cNvPr id="6" name="Table 5"/>
          <p:cNvGraphicFramePr/>
          <p:nvPr/>
        </p:nvGraphicFramePr>
        <p:xfrm>
          <a:off x="227965" y="915035"/>
          <a:ext cx="8806180" cy="162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8975"/>
                <a:gridCol w="2032000"/>
                <a:gridCol w="2588895"/>
                <a:gridCol w="2226310"/>
              </a:tblGrid>
              <a:tr h="450850"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Risk Level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Transactions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Fraud Transactions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Fraud Rate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</a:tr>
              <a:tr h="390525"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Low Risk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101,589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3,435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3.38%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</a:tr>
              <a:tr h="426720"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Medium Risk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54,676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3,147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5.76%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</a:tr>
              <a:tr h="352425"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High Risk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43,735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3,506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8.02%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rcRect l="879"/>
          <a:stretch>
            <a:fillRect/>
          </a:stretch>
        </p:blipFill>
        <p:spPr>
          <a:xfrm>
            <a:off x="2599690" y="2642870"/>
            <a:ext cx="4441825" cy="24257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964815" y="71755"/>
            <a:ext cx="304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 b="1">
                <a:solidFill>
                  <a:schemeClr val="tx2">
                    <a:lumMod val="50000"/>
                  </a:schemeClr>
                </a:solidFill>
              </a:rPr>
              <a:t>KEY EDA FINDINGS</a:t>
            </a:r>
            <a:endParaRPr lang="en-US" altLang="en-US" sz="2000" b="1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66445" y="676275"/>
            <a:ext cx="7731760" cy="2083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 sz="1400">
                <a:solidFill>
                  <a:schemeClr val="accent4">
                    <a:lumMod val="50000"/>
                  </a:schemeClr>
                </a:solidFill>
              </a:rPr>
              <a:t>Electronics</a:t>
            </a:r>
            <a:r>
              <a:rPr lang="en-US" altLang="en-US" sz="1400">
                <a:solidFill>
                  <a:schemeClr val="accent4">
                    <a:lumMod val="50000"/>
                  </a:schemeClr>
                </a:solidFill>
              </a:rPr>
              <a:t> recorded the highest fraud </a:t>
            </a:r>
            <a:r>
              <a:rPr lang="en-IN" altLang="en-US" sz="1400">
                <a:solidFill>
                  <a:schemeClr val="accent4">
                    <a:lumMod val="50000"/>
                  </a:schemeClr>
                </a:solidFill>
              </a:rPr>
              <a:t>rate </a:t>
            </a:r>
            <a:r>
              <a:rPr lang="en-US" altLang="en-US" sz="1400">
                <a:solidFill>
                  <a:schemeClr val="accent4">
                    <a:lumMod val="50000"/>
                  </a:schemeClr>
                </a:solidFill>
              </a:rPr>
              <a:t>at approximately </a:t>
            </a:r>
            <a:r>
              <a:rPr lang="en-IN" altLang="en-US" sz="1400">
                <a:solidFill>
                  <a:schemeClr val="accent4">
                    <a:lumMod val="50000"/>
                  </a:schemeClr>
                </a:solidFill>
              </a:rPr>
              <a:t>6.05%</a:t>
            </a:r>
            <a:r>
              <a:rPr lang="en-US" altLang="en-US" sz="1400">
                <a:solidFill>
                  <a:schemeClr val="accent4">
                    <a:lumMod val="50000"/>
                  </a:schemeClr>
                </a:solidFill>
              </a:rPr>
              <a:t> among merchant categories.</a:t>
            </a:r>
            <a:endParaRPr lang="en-US" altLang="en-US" sz="140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>
                <a:solidFill>
                  <a:schemeClr val="accent4">
                    <a:lumMod val="50000"/>
                  </a:schemeClr>
                </a:solidFill>
              </a:rPr>
              <a:t>High-risk transactions recorded the highest observed fraud rate of 8.02%.</a:t>
            </a:r>
            <a:endParaRPr lang="en-US" altLang="en-US" sz="140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>
                <a:solidFill>
                  <a:schemeClr val="accent4">
                    <a:lumMod val="50000"/>
                  </a:schemeClr>
                </a:solidFill>
              </a:rPr>
              <a:t>Fraud patterns varied across transaction types, devices, merchant categories, and customer segments.</a:t>
            </a:r>
            <a:endParaRPr lang="en-US" altLang="en-US" sz="140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>
                <a:solidFill>
                  <a:schemeClr val="accent4">
                    <a:lumMod val="50000"/>
                  </a:schemeClr>
                </a:solidFill>
              </a:rPr>
              <a:t>Fraudulent and genuine transactions showed differences in transaction amount and balance utilization.</a:t>
            </a:r>
            <a:endParaRPr lang="en-US" altLang="en-US" sz="140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>
                <a:solidFill>
                  <a:schemeClr val="accent4">
                    <a:lumMod val="50000"/>
                  </a:schemeClr>
                </a:solidFill>
              </a:rPr>
              <a:t>Time-related factors such as time of day and day of week showed variations in fraudulent transaction patterns.</a:t>
            </a:r>
            <a:endParaRPr lang="en-US" altLang="en-US" sz="140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>
                <a:solidFill>
                  <a:schemeClr val="accent4">
                    <a:lumMod val="50000"/>
                  </a:schemeClr>
                </a:solidFill>
              </a:rPr>
              <a:t>Geographical and account-related factors also showed differences in fraud occurrence.</a:t>
            </a:r>
            <a:endParaRPr lang="en-US" altLang="en-US" sz="140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l="2793" t="1775" r="795" b="2119"/>
          <a:stretch>
            <a:fillRect/>
          </a:stretch>
        </p:blipFill>
        <p:spPr>
          <a:xfrm>
            <a:off x="134620" y="3004185"/>
            <a:ext cx="2696210" cy="21310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l="633" t="1654" r="1323"/>
          <a:stretch>
            <a:fillRect/>
          </a:stretch>
        </p:blipFill>
        <p:spPr>
          <a:xfrm>
            <a:off x="2903855" y="3023870"/>
            <a:ext cx="3246120" cy="211391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t="2718" r="1043" b="2304"/>
          <a:stretch>
            <a:fillRect/>
          </a:stretch>
        </p:blipFill>
        <p:spPr>
          <a:xfrm>
            <a:off x="6223000" y="3093720"/>
            <a:ext cx="2890520" cy="20415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964815" y="71755"/>
            <a:ext cx="304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 b="1">
                <a:solidFill>
                  <a:schemeClr val="tx2">
                    <a:lumMod val="50000"/>
                  </a:schemeClr>
                </a:solidFill>
              </a:rPr>
              <a:t>INTERACTIVE DASHBOARD</a:t>
            </a:r>
            <a:endParaRPr lang="en-US" altLang="en-US" sz="2000" b="1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70535"/>
            <a:ext cx="9144000" cy="46520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964815" y="71755"/>
            <a:ext cx="304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000" b="1">
                <a:solidFill>
                  <a:schemeClr val="tx2">
                    <a:lumMod val="50000"/>
                  </a:schemeClr>
                </a:solidFill>
              </a:rPr>
              <a:t>KEY INSIGHTS</a:t>
            </a:r>
            <a:endParaRPr lang="en-IN" altLang="en-US" sz="2000" b="1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18160" y="708025"/>
            <a:ext cx="6955790" cy="3971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800">
                <a:solidFill>
                  <a:schemeClr val="accent3">
                    <a:lumMod val="50000"/>
                  </a:schemeClr>
                </a:solidFill>
              </a:rPr>
              <a:t>5.04% of the 200,000 transactions were identified as fraudulent.</a:t>
            </a:r>
            <a:endParaRPr lang="en-US" altLang="en-US" sz="1800">
              <a:solidFill>
                <a:schemeClr val="accent3">
                  <a:lumMod val="5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800">
                <a:solidFill>
                  <a:schemeClr val="accent3">
                    <a:lumMod val="50000"/>
                  </a:schemeClr>
                </a:solidFill>
              </a:rPr>
              <a:t>Late-night transactions recorded the highest fraud rate at 13.01%.</a:t>
            </a:r>
            <a:endParaRPr lang="en-US" altLang="en-US" sz="1800">
              <a:solidFill>
                <a:schemeClr val="accent3">
                  <a:lumMod val="5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800">
                <a:solidFill>
                  <a:schemeClr val="accent3">
                    <a:lumMod val="50000"/>
                  </a:schemeClr>
                </a:solidFill>
              </a:rPr>
              <a:t>Mobile devices recorded the highest device-wise fraud rate at 7.33%.</a:t>
            </a:r>
            <a:endParaRPr lang="en-US" altLang="en-US" sz="1800">
              <a:solidFill>
                <a:schemeClr val="accent3">
                  <a:lumMod val="5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800">
                <a:solidFill>
                  <a:schemeClr val="accent3">
                    <a:lumMod val="50000"/>
                  </a:schemeClr>
                </a:solidFill>
              </a:rPr>
              <a:t>Transfer transactions had the highest fraud rate among transaction types at 5.90%.</a:t>
            </a:r>
            <a:endParaRPr lang="en-US" altLang="en-US" sz="1800">
              <a:solidFill>
                <a:schemeClr val="accent3">
                  <a:lumMod val="5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800">
                <a:solidFill>
                  <a:schemeClr val="accent3">
                    <a:lumMod val="50000"/>
                  </a:schemeClr>
                </a:solidFill>
              </a:rPr>
              <a:t>High-risk transactions showed the highest observed fraud rate at 8.02%.</a:t>
            </a:r>
            <a:endParaRPr lang="en-US" altLang="en-US" sz="1800">
              <a:solidFill>
                <a:schemeClr val="accent3">
                  <a:lumMod val="5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800">
                <a:solidFill>
                  <a:schemeClr val="accent3">
                    <a:lumMod val="50000"/>
                  </a:schemeClr>
                </a:solidFill>
              </a:rPr>
              <a:t>Fraud patterns varied across merchant categories, states, account types, and customer groups.</a:t>
            </a:r>
            <a:endParaRPr lang="en-US" altLang="en-US" sz="1800">
              <a:solidFill>
                <a:schemeClr val="accent3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612140" y="291465"/>
            <a:ext cx="30676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400" b="1">
                <a:solidFill>
                  <a:schemeClr val="accent2">
                    <a:lumMod val="85000"/>
                    <a:lumOff val="15000"/>
                  </a:schemeClr>
                </a:solidFill>
              </a:rPr>
              <a:t>BUSINESS RECOMMENDATIONS</a:t>
            </a:r>
            <a:endParaRPr lang="en-IN" altLang="en-US" sz="2400" b="1">
              <a:solidFill>
                <a:schemeClr val="accent2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extBox 94"/>
          <p:cNvSpPr txBox="1">
            <a:spLocks noChangeArrowheads="1"/>
          </p:cNvSpPr>
          <p:nvPr/>
        </p:nvSpPr>
        <p:spPr bwMode="auto">
          <a:xfrm>
            <a:off x="1216025" y="1199515"/>
            <a:ext cx="7023735" cy="37719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282" tIns="41141" rIns="82282" bIns="41141">
            <a:noAutofit/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9pPr>
          </a:lstStyle>
          <a:p>
            <a:pPr marL="171450" indent="-171450" eaLnBrk="1" hangingPunct="1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en-US" sz="1600" dirty="0">
                <a:solidFill>
                  <a:schemeClr val="accent2">
                    <a:lumMod val="85000"/>
                    <a:lumOff val="15000"/>
                  </a:schemeClr>
                </a:solidFill>
                <a:latin typeface="Times New Roman" panose="02020603050405020304" charset="0"/>
                <a:ea typeface="Calibri" panose="020F0502020204030204" pitchFamily="34" charset="0"/>
                <a:cs typeface="Times New Roman" panose="02020603050405020304" charset="0"/>
                <a:sym typeface="Calibri" panose="020F0502020204030204" pitchFamily="34" charset="0"/>
              </a:rPr>
              <a:t>5.04% of the 200,000 transactions were identified as fraudulent.</a:t>
            </a:r>
            <a:endParaRPr lang="en-US" altLang="en-US" sz="1600" dirty="0">
              <a:solidFill>
                <a:schemeClr val="accent2">
                  <a:lumMod val="85000"/>
                  <a:lumOff val="15000"/>
                </a:schemeClr>
              </a:solidFill>
              <a:latin typeface="Times New Roman" panose="02020603050405020304" charset="0"/>
              <a:ea typeface="Calibri" panose="020F0502020204030204" pitchFamily="34" charset="0"/>
              <a:cs typeface="Times New Roman" panose="02020603050405020304" charset="0"/>
              <a:sym typeface="Calibri" panose="020F0502020204030204" pitchFamily="34" charset="0"/>
            </a:endParaRPr>
          </a:p>
          <a:p>
            <a:pPr marL="171450" indent="-171450" eaLnBrk="1" hangingPunct="1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en-US" sz="1600" dirty="0">
                <a:solidFill>
                  <a:schemeClr val="accent2">
                    <a:lumMod val="85000"/>
                    <a:lumOff val="15000"/>
                  </a:schemeClr>
                </a:solidFill>
                <a:latin typeface="Times New Roman" panose="02020603050405020304" charset="0"/>
                <a:ea typeface="Calibri" panose="020F0502020204030204" pitchFamily="34" charset="0"/>
                <a:cs typeface="Times New Roman" panose="02020603050405020304" charset="0"/>
                <a:sym typeface="Calibri" panose="020F0502020204030204" pitchFamily="34" charset="0"/>
              </a:rPr>
              <a:t>Late-night transactions recorded the highest fraud rate at 13.01%.</a:t>
            </a:r>
            <a:endParaRPr lang="en-US" altLang="en-US" sz="1600" dirty="0">
              <a:solidFill>
                <a:schemeClr val="accent2">
                  <a:lumMod val="85000"/>
                  <a:lumOff val="15000"/>
                </a:schemeClr>
              </a:solidFill>
              <a:latin typeface="Times New Roman" panose="02020603050405020304" charset="0"/>
              <a:ea typeface="Calibri" panose="020F0502020204030204" pitchFamily="34" charset="0"/>
              <a:cs typeface="Times New Roman" panose="02020603050405020304" charset="0"/>
              <a:sym typeface="Calibri" panose="020F0502020204030204" pitchFamily="34" charset="0"/>
            </a:endParaRPr>
          </a:p>
          <a:p>
            <a:pPr marL="171450" indent="-171450" eaLnBrk="1" hangingPunct="1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en-US" sz="1600" dirty="0">
                <a:solidFill>
                  <a:schemeClr val="accent2">
                    <a:lumMod val="85000"/>
                    <a:lumOff val="15000"/>
                  </a:schemeClr>
                </a:solidFill>
                <a:latin typeface="Times New Roman" panose="02020603050405020304" charset="0"/>
                <a:ea typeface="Calibri" panose="020F0502020204030204" pitchFamily="34" charset="0"/>
                <a:cs typeface="Times New Roman" panose="02020603050405020304" charset="0"/>
                <a:sym typeface="Calibri" panose="020F0502020204030204" pitchFamily="34" charset="0"/>
              </a:rPr>
              <a:t>Mobile devices recorded the highest device-wise fraud rate at 7.33%.</a:t>
            </a:r>
            <a:endParaRPr lang="en-US" altLang="en-US" sz="1600" dirty="0">
              <a:solidFill>
                <a:schemeClr val="accent2">
                  <a:lumMod val="85000"/>
                  <a:lumOff val="15000"/>
                </a:schemeClr>
              </a:solidFill>
              <a:latin typeface="Times New Roman" panose="02020603050405020304" charset="0"/>
              <a:ea typeface="Calibri" panose="020F0502020204030204" pitchFamily="34" charset="0"/>
              <a:cs typeface="Times New Roman" panose="02020603050405020304" charset="0"/>
              <a:sym typeface="Calibri" panose="020F0502020204030204" pitchFamily="34" charset="0"/>
            </a:endParaRPr>
          </a:p>
          <a:p>
            <a:pPr marL="171450" indent="-171450" eaLnBrk="1" hangingPunct="1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en-US" sz="1600" dirty="0">
                <a:solidFill>
                  <a:schemeClr val="accent2">
                    <a:lumMod val="85000"/>
                    <a:lumOff val="15000"/>
                  </a:schemeClr>
                </a:solidFill>
                <a:latin typeface="Times New Roman" panose="02020603050405020304" charset="0"/>
                <a:ea typeface="Calibri" panose="020F0502020204030204" pitchFamily="34" charset="0"/>
                <a:cs typeface="Times New Roman" panose="02020603050405020304" charset="0"/>
                <a:sym typeface="Calibri" panose="020F0502020204030204" pitchFamily="34" charset="0"/>
              </a:rPr>
              <a:t>Transfer transactions had the highest fraud rate among transaction types at 5.90%.</a:t>
            </a:r>
            <a:endParaRPr lang="en-US" altLang="en-US" sz="1600" dirty="0">
              <a:solidFill>
                <a:schemeClr val="accent2">
                  <a:lumMod val="85000"/>
                  <a:lumOff val="15000"/>
                </a:schemeClr>
              </a:solidFill>
              <a:latin typeface="Times New Roman" panose="02020603050405020304" charset="0"/>
              <a:ea typeface="Calibri" panose="020F0502020204030204" pitchFamily="34" charset="0"/>
              <a:cs typeface="Times New Roman" panose="02020603050405020304" charset="0"/>
              <a:sym typeface="Calibri" panose="020F0502020204030204" pitchFamily="34" charset="0"/>
            </a:endParaRPr>
          </a:p>
          <a:p>
            <a:pPr marL="171450" indent="-171450" eaLnBrk="1" hangingPunct="1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en-US" sz="1600" dirty="0">
                <a:solidFill>
                  <a:schemeClr val="accent2">
                    <a:lumMod val="85000"/>
                    <a:lumOff val="15000"/>
                  </a:schemeClr>
                </a:solidFill>
                <a:latin typeface="Times New Roman" panose="02020603050405020304" charset="0"/>
                <a:ea typeface="Calibri" panose="020F0502020204030204" pitchFamily="34" charset="0"/>
                <a:cs typeface="Times New Roman" panose="02020603050405020304" charset="0"/>
                <a:sym typeface="Calibri" panose="020F0502020204030204" pitchFamily="34" charset="0"/>
              </a:rPr>
              <a:t>High-risk transactions showed the highest observed fraud rate at 8.02%.</a:t>
            </a:r>
            <a:endParaRPr lang="en-US" altLang="en-US" sz="1600" dirty="0">
              <a:solidFill>
                <a:schemeClr val="accent2">
                  <a:lumMod val="85000"/>
                  <a:lumOff val="15000"/>
                </a:schemeClr>
              </a:solidFill>
              <a:latin typeface="Times New Roman" panose="02020603050405020304" charset="0"/>
              <a:ea typeface="Calibri" panose="020F0502020204030204" pitchFamily="34" charset="0"/>
              <a:cs typeface="Times New Roman" panose="02020603050405020304" charset="0"/>
              <a:sym typeface="Calibri" panose="020F0502020204030204" pitchFamily="34" charset="0"/>
            </a:endParaRPr>
          </a:p>
          <a:p>
            <a:pPr marL="171450" indent="-171450" eaLnBrk="1" hangingPunct="1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en-US" sz="1600" dirty="0">
                <a:solidFill>
                  <a:schemeClr val="accent2">
                    <a:lumMod val="85000"/>
                    <a:lumOff val="15000"/>
                  </a:schemeClr>
                </a:solidFill>
                <a:latin typeface="Times New Roman" panose="02020603050405020304" charset="0"/>
                <a:ea typeface="Calibri" panose="020F0502020204030204" pitchFamily="34" charset="0"/>
                <a:cs typeface="Times New Roman" panose="02020603050405020304" charset="0"/>
                <a:sym typeface="Calibri" panose="020F0502020204030204" pitchFamily="34" charset="0"/>
              </a:rPr>
              <a:t>Fraud patterns varied across merchant categories, states, account types, and customer groups.</a:t>
            </a:r>
            <a:endParaRPr lang="en-US" altLang="en-US" sz="1600" dirty="0">
              <a:solidFill>
                <a:schemeClr val="accent2">
                  <a:lumMod val="85000"/>
                  <a:lumOff val="15000"/>
                </a:schemeClr>
              </a:solidFill>
              <a:latin typeface="Times New Roman" panose="02020603050405020304" charset="0"/>
              <a:ea typeface="Calibri" panose="020F0502020204030204" pitchFamily="34" charset="0"/>
              <a:cs typeface="Times New Roman" panose="0202060305040502030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菱形 6"/>
          <p:cNvSpPr/>
          <p:nvPr/>
        </p:nvSpPr>
        <p:spPr>
          <a:xfrm>
            <a:off x="2839720" y="0"/>
            <a:ext cx="3464560" cy="1237615"/>
          </a:xfrm>
          <a:prstGeom prst="diamond">
            <a:avLst/>
          </a:prstGeom>
          <a:solidFill>
            <a:srgbClr val="494B4E"/>
          </a:solidFill>
          <a:ln>
            <a:noFill/>
          </a:ln>
          <a:effectLst>
            <a:outerShdw blurRad="431800" sx="104000" sy="104000" algn="ctr" rotWithShape="0">
              <a:schemeClr val="tx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en-US" sz="1600" b="1" dirty="0">
                <a:ea typeface="Calibri" panose="020F0502020204030204" pitchFamily="34" charset="0"/>
              </a:rPr>
              <a:t>LIMITATIONS OF THE STUDY</a:t>
            </a:r>
            <a:endParaRPr lang="en-US" altLang="en-US" sz="1600" b="1" dirty="0">
              <a:ea typeface="Calibri" panose="020F050202020403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562100" y="1310640"/>
            <a:ext cx="6129020" cy="3696335"/>
          </a:xfrm>
          <a:prstGeom prst="rect">
            <a:avLst/>
          </a:prstGeom>
          <a:gradFill>
            <a:gsLst>
              <a:gs pos="50000">
                <a:schemeClr val="accent6"/>
              </a:gs>
              <a:gs pos="0">
                <a:schemeClr val="accent6">
                  <a:lumMod val="25000"/>
                  <a:lumOff val="75000"/>
                </a:schemeClr>
              </a:gs>
              <a:gs pos="100000">
                <a:schemeClr val="accent6">
                  <a:lumMod val="8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 prstMaterial="matte"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>
                <a:solidFill>
                  <a:schemeClr val="accent2">
                    <a:lumMod val="75000"/>
                    <a:lumOff val="25000"/>
                  </a:schemeClr>
                </a:solidFill>
              </a:rPr>
              <a:t>The study is based on a single banking transaction dataset.</a:t>
            </a:r>
            <a:endParaRPr lang="en-US" altLang="en-US" sz="1800">
              <a:solidFill>
                <a:schemeClr val="accent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>
                <a:solidFill>
                  <a:schemeClr val="accent2">
                    <a:lumMod val="75000"/>
                    <a:lumOff val="25000"/>
                  </a:schemeClr>
                </a:solidFill>
              </a:rPr>
              <a:t>The dataset does not provide long-term transaction history for individual customers.</a:t>
            </a:r>
            <a:endParaRPr lang="en-US" altLang="en-US" sz="1800">
              <a:solidFill>
                <a:schemeClr val="accent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>
                <a:solidFill>
                  <a:schemeClr val="accent2">
                    <a:lumMod val="75000"/>
                    <a:lumOff val="25000"/>
                  </a:schemeClr>
                </a:solidFill>
              </a:rPr>
              <a:t>The risk score is a rule-based heuristic, not a machine learning model.</a:t>
            </a:r>
            <a:endParaRPr lang="en-US" altLang="en-US" sz="1800">
              <a:solidFill>
                <a:schemeClr val="accent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>
                <a:solidFill>
                  <a:schemeClr val="accent2">
                    <a:lumMod val="75000"/>
                    <a:lumOff val="25000"/>
                  </a:schemeClr>
                </a:solidFill>
              </a:rPr>
              <a:t>The analysis is based on historical/static data, so it does not represent real-time fraud detection.</a:t>
            </a:r>
            <a:endParaRPr lang="en-US" altLang="en-US" sz="1800">
              <a:solidFill>
                <a:schemeClr val="accent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>
                <a:solidFill>
                  <a:schemeClr val="accent2">
                    <a:lumMod val="75000"/>
                    <a:lumOff val="25000"/>
                  </a:schemeClr>
                </a:solidFill>
              </a:rPr>
              <a:t>The identified patterns may not represent all banking environments or customer populations.</a:t>
            </a:r>
            <a:endParaRPr lang="en-US" altLang="en-US" sz="1800">
              <a:solidFill>
                <a:schemeClr val="accent2">
                  <a:lumMod val="75000"/>
                  <a:lumOff val="25000"/>
                </a:schemeClr>
              </a:solidFill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 sz="1800">
              <a:solidFill>
                <a:schemeClr val="accent2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612140" y="291465"/>
            <a:ext cx="30676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 b="1">
                <a:solidFill>
                  <a:schemeClr val="accent2">
                    <a:lumMod val="85000"/>
                    <a:lumOff val="15000"/>
                  </a:schemeClr>
                </a:solidFill>
              </a:rPr>
              <a:t>FUTURE SCOPE</a:t>
            </a:r>
            <a:endParaRPr lang="en-US" altLang="en-US" sz="2400" b="1">
              <a:solidFill>
                <a:schemeClr val="accent2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extBox 94"/>
          <p:cNvSpPr txBox="1">
            <a:spLocks noChangeArrowheads="1"/>
          </p:cNvSpPr>
          <p:nvPr/>
        </p:nvSpPr>
        <p:spPr bwMode="auto">
          <a:xfrm>
            <a:off x="1216025" y="1199515"/>
            <a:ext cx="7023735" cy="37719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282" tIns="41141" rIns="82282" bIns="41141">
            <a:noAutofit/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9pPr>
          </a:lstStyle>
          <a:p>
            <a:pPr marL="171450" indent="-171450" eaLnBrk="1" hangingPunct="1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en-US" sz="1600" dirty="0">
                <a:solidFill>
                  <a:schemeClr val="accent2">
                    <a:lumMod val="85000"/>
                    <a:lumOff val="15000"/>
                  </a:schemeClr>
                </a:solidFill>
                <a:latin typeface="Times New Roman" panose="02020603050405020304" charset="0"/>
                <a:ea typeface="Calibri" panose="020F0502020204030204" pitchFamily="34" charset="0"/>
                <a:cs typeface="Times New Roman" panose="02020603050405020304" charset="0"/>
                <a:sym typeface="Calibri" panose="020F0502020204030204" pitchFamily="34" charset="0"/>
              </a:rPr>
              <a:t>Develop real-time fraud detection systems for continuous transaction monitoring.</a:t>
            </a:r>
            <a:endParaRPr lang="en-US" altLang="en-US" sz="1600" dirty="0">
              <a:solidFill>
                <a:schemeClr val="accent2">
                  <a:lumMod val="85000"/>
                  <a:lumOff val="15000"/>
                </a:schemeClr>
              </a:solidFill>
              <a:latin typeface="Times New Roman" panose="02020603050405020304" charset="0"/>
              <a:ea typeface="Calibri" panose="020F0502020204030204" pitchFamily="34" charset="0"/>
              <a:cs typeface="Times New Roman" panose="02020603050405020304" charset="0"/>
              <a:sym typeface="Calibri" panose="020F0502020204030204" pitchFamily="34" charset="0"/>
            </a:endParaRPr>
          </a:p>
          <a:p>
            <a:pPr marL="171450" indent="-171450" eaLnBrk="1" hangingPunct="1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en-US" sz="1600" dirty="0">
                <a:solidFill>
                  <a:schemeClr val="accent2">
                    <a:lumMod val="85000"/>
                    <a:lumOff val="15000"/>
                  </a:schemeClr>
                </a:solidFill>
                <a:latin typeface="Times New Roman" panose="02020603050405020304" charset="0"/>
                <a:ea typeface="Calibri" panose="020F0502020204030204" pitchFamily="34" charset="0"/>
                <a:cs typeface="Times New Roman" panose="02020603050405020304" charset="0"/>
                <a:sym typeface="Calibri" panose="020F0502020204030204" pitchFamily="34" charset="0"/>
              </a:rPr>
              <a:t>Apply Machine Learning models to improve fraud prediction and classification.</a:t>
            </a:r>
            <a:endParaRPr lang="en-US" altLang="en-US" sz="1600" dirty="0">
              <a:solidFill>
                <a:schemeClr val="accent2">
                  <a:lumMod val="85000"/>
                  <a:lumOff val="15000"/>
                </a:schemeClr>
              </a:solidFill>
              <a:latin typeface="Times New Roman" panose="02020603050405020304" charset="0"/>
              <a:ea typeface="Calibri" panose="020F0502020204030204" pitchFamily="34" charset="0"/>
              <a:cs typeface="Times New Roman" panose="02020603050405020304" charset="0"/>
              <a:sym typeface="Calibri" panose="020F0502020204030204" pitchFamily="34" charset="0"/>
            </a:endParaRPr>
          </a:p>
          <a:p>
            <a:pPr marL="171450" indent="-171450" eaLnBrk="1" hangingPunct="1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en-US" sz="1600" dirty="0">
                <a:solidFill>
                  <a:schemeClr val="accent2">
                    <a:lumMod val="85000"/>
                    <a:lumOff val="15000"/>
                  </a:schemeClr>
                </a:solidFill>
                <a:latin typeface="Times New Roman" panose="02020603050405020304" charset="0"/>
                <a:ea typeface="Calibri" panose="020F0502020204030204" pitchFamily="34" charset="0"/>
                <a:cs typeface="Times New Roman" panose="02020603050405020304" charset="0"/>
                <a:sym typeface="Calibri" panose="020F0502020204030204" pitchFamily="34" charset="0"/>
              </a:rPr>
              <a:t>Incorporate customer behavioral profiling using historical transaction patterns.</a:t>
            </a:r>
            <a:endParaRPr lang="en-US" altLang="en-US" sz="1600" dirty="0">
              <a:solidFill>
                <a:schemeClr val="accent2">
                  <a:lumMod val="85000"/>
                  <a:lumOff val="15000"/>
                </a:schemeClr>
              </a:solidFill>
              <a:latin typeface="Times New Roman" panose="02020603050405020304" charset="0"/>
              <a:ea typeface="Calibri" panose="020F0502020204030204" pitchFamily="34" charset="0"/>
              <a:cs typeface="Times New Roman" panose="02020603050405020304" charset="0"/>
              <a:sym typeface="Calibri" panose="020F0502020204030204" pitchFamily="34" charset="0"/>
            </a:endParaRPr>
          </a:p>
          <a:p>
            <a:pPr marL="171450" indent="-171450" eaLnBrk="1" hangingPunct="1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en-US" sz="1600" dirty="0">
                <a:solidFill>
                  <a:schemeClr val="accent2">
                    <a:lumMod val="85000"/>
                    <a:lumOff val="15000"/>
                  </a:schemeClr>
                </a:solidFill>
                <a:latin typeface="Times New Roman" panose="02020603050405020304" charset="0"/>
                <a:ea typeface="Calibri" panose="020F0502020204030204" pitchFamily="34" charset="0"/>
                <a:cs typeface="Times New Roman" panose="02020603050405020304" charset="0"/>
                <a:sym typeface="Calibri" panose="020F0502020204030204" pitchFamily="34" charset="0"/>
              </a:rPr>
              <a:t>Use advanced techniques such as anomaly detection to identify previously unknown fraud patterns.</a:t>
            </a:r>
            <a:endParaRPr lang="en-US" altLang="en-US" sz="1600" dirty="0">
              <a:solidFill>
                <a:schemeClr val="accent2">
                  <a:lumMod val="85000"/>
                  <a:lumOff val="15000"/>
                </a:schemeClr>
              </a:solidFill>
              <a:latin typeface="Times New Roman" panose="02020603050405020304" charset="0"/>
              <a:ea typeface="Calibri" panose="020F0502020204030204" pitchFamily="34" charset="0"/>
              <a:cs typeface="Times New Roman" panose="02020603050405020304" charset="0"/>
              <a:sym typeface="Calibri" panose="020F0502020204030204" pitchFamily="34" charset="0"/>
            </a:endParaRPr>
          </a:p>
          <a:p>
            <a:pPr marL="171450" indent="-171450" eaLnBrk="1" hangingPunct="1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en-US" sz="1600" dirty="0">
                <a:solidFill>
                  <a:schemeClr val="accent2">
                    <a:lumMod val="85000"/>
                    <a:lumOff val="15000"/>
                  </a:schemeClr>
                </a:solidFill>
                <a:latin typeface="Times New Roman" panose="02020603050405020304" charset="0"/>
                <a:ea typeface="Calibri" panose="020F0502020204030204" pitchFamily="34" charset="0"/>
                <a:cs typeface="Times New Roman" panose="02020603050405020304" charset="0"/>
                <a:sym typeface="Calibri" panose="020F0502020204030204" pitchFamily="34" charset="0"/>
              </a:rPr>
              <a:t>Integrate additional data sources such as device behavior, location, and transaction history.</a:t>
            </a:r>
            <a:endParaRPr lang="en-US" altLang="en-US" sz="1600" dirty="0">
              <a:solidFill>
                <a:schemeClr val="accent2">
                  <a:lumMod val="85000"/>
                  <a:lumOff val="15000"/>
                </a:schemeClr>
              </a:solidFill>
              <a:latin typeface="Times New Roman" panose="02020603050405020304" charset="0"/>
              <a:ea typeface="Calibri" panose="020F0502020204030204" pitchFamily="34" charset="0"/>
              <a:cs typeface="Times New Roman" panose="02020603050405020304" charset="0"/>
              <a:sym typeface="Calibri" panose="020F0502020204030204" pitchFamily="34" charset="0"/>
            </a:endParaRPr>
          </a:p>
          <a:p>
            <a:pPr marL="171450" indent="-171450" eaLnBrk="1" hangingPunct="1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en-US" sz="1600" dirty="0">
                <a:solidFill>
                  <a:schemeClr val="accent2">
                    <a:lumMod val="85000"/>
                    <a:lumOff val="15000"/>
                  </a:schemeClr>
                </a:solidFill>
                <a:latin typeface="Times New Roman" panose="02020603050405020304" charset="0"/>
                <a:ea typeface="Calibri" panose="020F0502020204030204" pitchFamily="34" charset="0"/>
                <a:cs typeface="Times New Roman" panose="02020603050405020304" charset="0"/>
                <a:sym typeface="Calibri" panose="020F0502020204030204" pitchFamily="34" charset="0"/>
              </a:rPr>
              <a:t>Develop automated fraud alerts and risk-based intervention systems.</a:t>
            </a:r>
            <a:endParaRPr lang="en-US" altLang="en-US" sz="1600" dirty="0">
              <a:solidFill>
                <a:schemeClr val="accent2">
                  <a:lumMod val="85000"/>
                  <a:lumOff val="15000"/>
                </a:schemeClr>
              </a:solidFill>
              <a:latin typeface="Times New Roman" panose="02020603050405020304" charset="0"/>
              <a:ea typeface="Calibri" panose="020F0502020204030204" pitchFamily="34" charset="0"/>
              <a:cs typeface="Times New Roman" panose="0202060305040502030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ctangle 93"/>
          <p:cNvSpPr>
            <a:spLocks noChangeArrowheads="1"/>
          </p:cNvSpPr>
          <p:nvPr/>
        </p:nvSpPr>
        <p:spPr bwMode="auto">
          <a:xfrm>
            <a:off x="448310" y="201930"/>
            <a:ext cx="1659890" cy="819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282" tIns="41141" rIns="82282" bIns="41141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IN" altLang="zh-CN" sz="24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sym typeface="Calibri" panose="020F0502020204030204" pitchFamily="34" charset="0"/>
              </a:rPr>
              <a:t>Conclusion</a:t>
            </a:r>
            <a:r>
              <a:rPr lang="zh-CN" altLang="en-US" sz="24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sym typeface="Calibri" panose="020F0502020204030204" pitchFamily="34" charset="0"/>
              </a:rPr>
              <a:t>
</a:t>
            </a:r>
            <a:endParaRPr lang="zh-CN" altLang="en-US" sz="2400" b="1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cxnSp>
        <p:nvCxnSpPr>
          <p:cNvPr id="169" name="直接连接符 168"/>
          <p:cNvCxnSpPr/>
          <p:nvPr/>
        </p:nvCxnSpPr>
        <p:spPr>
          <a:xfrm>
            <a:off x="544244" y="770274"/>
            <a:ext cx="32734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 Box 169"/>
          <p:cNvSpPr txBox="1"/>
          <p:nvPr/>
        </p:nvSpPr>
        <p:spPr>
          <a:xfrm>
            <a:off x="928370" y="898525"/>
            <a:ext cx="7615555" cy="1960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altLang="en-US">
                <a:solidFill>
                  <a:schemeClr val="accent2">
                    <a:lumMod val="85000"/>
                    <a:lumOff val="15000"/>
                  </a:schemeClr>
                </a:solidFill>
              </a:rPr>
              <a:t>The study analyzed 200,000 banking transactions to identify fraud-related patterns.</a:t>
            </a:r>
            <a:endParaRPr lang="en-US" altLang="en-US">
              <a:solidFill>
                <a:schemeClr val="accent2">
                  <a:lumMod val="85000"/>
                  <a:lumOff val="15000"/>
                </a:schemeClr>
              </a:solidFill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altLang="en-US">
                <a:solidFill>
                  <a:schemeClr val="accent2">
                    <a:lumMod val="85000"/>
                    <a:lumOff val="15000"/>
                  </a:schemeClr>
                </a:solidFill>
              </a:rPr>
              <a:t>Fraudulent transactions accounted for 5.04% of the dataset.</a:t>
            </a:r>
            <a:endParaRPr lang="en-US" altLang="en-US">
              <a:solidFill>
                <a:schemeClr val="accent2">
                  <a:lumMod val="85000"/>
                  <a:lumOff val="15000"/>
                </a:schemeClr>
              </a:solidFill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altLang="en-US">
                <a:solidFill>
                  <a:schemeClr val="accent2">
                    <a:lumMod val="85000"/>
                    <a:lumOff val="15000"/>
                  </a:schemeClr>
                </a:solidFill>
              </a:rPr>
              <a:t>Time, device, transaction type, and risk-related factors showed meaningful differences in fraud rates.</a:t>
            </a:r>
            <a:endParaRPr lang="en-US" altLang="en-US">
              <a:solidFill>
                <a:schemeClr val="accent2">
                  <a:lumMod val="85000"/>
                  <a:lumOff val="15000"/>
                </a:schemeClr>
              </a:solidFill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altLang="en-US">
                <a:solidFill>
                  <a:schemeClr val="accent2">
                    <a:lumMod val="85000"/>
                    <a:lumOff val="15000"/>
                  </a:schemeClr>
                </a:solidFill>
              </a:rPr>
              <a:t>The rule-based risk scoring approach helped categorize transactions into Low, Medium, and High Risk.</a:t>
            </a:r>
            <a:endParaRPr lang="en-US" altLang="en-US">
              <a:solidFill>
                <a:schemeClr val="accent2">
                  <a:lumMod val="85000"/>
                  <a:lumOff val="15000"/>
                </a:schemeClr>
              </a:solidFill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altLang="en-US">
                <a:solidFill>
                  <a:schemeClr val="accent2">
                    <a:lumMod val="85000"/>
                    <a:lumOff val="15000"/>
                  </a:schemeClr>
                </a:solidFill>
              </a:rPr>
              <a:t>Interactive dashboards provided an effective way to monitor and analyze fraud patterns.</a:t>
            </a:r>
            <a:endParaRPr lang="en-US" altLang="en-US">
              <a:solidFill>
                <a:schemeClr val="accent2">
                  <a:lumMod val="85000"/>
                  <a:lumOff val="15000"/>
                </a:schemeClr>
              </a:solidFill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altLang="en-US">
                <a:solidFill>
                  <a:schemeClr val="accent2">
                    <a:lumMod val="85000"/>
                    <a:lumOff val="15000"/>
                  </a:schemeClr>
                </a:solidFill>
              </a:rPr>
              <a:t>The study demonstrates how data analytics can support bank fraud monitoring and decision-making.</a:t>
            </a:r>
            <a:endParaRPr lang="en-US" altLang="en-US">
              <a:solidFill>
                <a:schemeClr val="accent2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600561" y="2165417"/>
            <a:ext cx="2710180" cy="8915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THANK YOU</a:t>
            </a:r>
            <a:endParaRPr lang="en-US" altLang="zh-CN" sz="4000" b="1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7.55629921259845,&quot;left&quot;:216.15,&quot;top&quot;:29.1,&quot;width&quot;:455.45141732283463}"/>
</p:tagLst>
</file>

<file path=ppt/tags/tag2.xml><?xml version="1.0" encoding="utf-8"?>
<p:tagLst xmlns:p="http://schemas.openxmlformats.org/presentationml/2006/main">
  <p:tag name="KSO_WM_DIAGRAM_VIRTUALLY_FRAME" val="{&quot;height&quot;:307.55629921259845,&quot;left&quot;:216.15,&quot;top&quot;:29.1,&quot;width&quot;:455.45141732283463}"/>
</p:tagLst>
</file>

<file path=ppt/tags/tag3.xml><?xml version="1.0" encoding="utf-8"?>
<p:tagLst xmlns:p="http://schemas.openxmlformats.org/presentationml/2006/main">
  <p:tag name="KSO_WM_DIAGRAM_VIRTUALLY_FRAME" val="{&quot;height&quot;:307.55629921259845,&quot;left&quot;:216.15,&quot;top&quot;:29.1,&quot;width&quot;:455.45141732283463}"/>
</p:tagLst>
</file>

<file path=ppt/tags/tag4.xml><?xml version="1.0" encoding="utf-8"?>
<p:tagLst xmlns:p="http://schemas.openxmlformats.org/presentationml/2006/main">
  <p:tag name="KSO_WM_DIAGRAM_VIRTUALLY_FRAME" val="{&quot;height&quot;:307.55629921259845,&quot;left&quot;:216.15,&quot;top&quot;:29.1,&quot;width&quot;:455.45141732283463}"/>
</p:tagLst>
</file>

<file path=ppt/tags/tag5.xml><?xml version="1.0" encoding="utf-8"?>
<p:tagLst xmlns:p="http://schemas.openxmlformats.org/presentationml/2006/main">
  <p:tag name="KSO_WM_DIAGRAM_VIRTUALLY_FRAME" val="{&quot;height&quot;:307.55629921259845,&quot;left&quot;:216.15,&quot;top&quot;:29.1,&quot;width&quot;:455.45141732283463}"/>
</p:tagLst>
</file>

<file path=ppt/tags/tag6.xml><?xml version="1.0" encoding="utf-8"?>
<p:tagLst xmlns:p="http://schemas.openxmlformats.org/presentationml/2006/main">
  <p:tag name="KSO_WM_DIAGRAM_VIRTUALLY_FRAME" val="{&quot;height&quot;:307.55629921259845,&quot;left&quot;:216.15,&quot;top&quot;:29.1,&quot;width&quot;:455.45141732283463}"/>
</p:tagLst>
</file>

<file path=ppt/tags/tag7.xml><?xml version="1.0" encoding="utf-8"?>
<p:tagLst xmlns:p="http://schemas.openxmlformats.org/presentationml/2006/main">
  <p:tag name="KSO_WM_DIAGRAM_VIRTUALLY_FRAME" val="{&quot;height&quot;:307.55629921259845,&quot;left&quot;:216.15,&quot;top&quot;:29.1,&quot;width&quot;:455.45141732283463}"/>
</p:tagLst>
</file>

<file path=ppt/tags/tag8.xml><?xml version="1.0" encoding="utf-8"?>
<p:tagLst xmlns:p="http://schemas.openxmlformats.org/presentationml/2006/main">
  <p:tag name="KSO_WM_DIAGRAM_VIRTUALLY_FRAME" val="{&quot;height&quot;:307.55629921259845,&quot;left&quot;:216.15,&quot;top&quot;:29.1,&quot;width&quot;:455.45141732283463}"/>
</p:tagLst>
</file>

<file path=ppt/tags/tag9.xml><?xml version="1.0" encoding="utf-8"?>
<p:tagLst xmlns:p="http://schemas.openxmlformats.org/presentationml/2006/main">
  <p:tag name="KSO_WM_DIAGRAM_VIRTUALLY_FRAME" val="{&quot;height&quot;:307.55629921259845,&quot;left&quot;:216.15,&quot;top&quot;:29.1,&quot;width&quot;:455.45141732283463}"/>
</p:tagLst>
</file>

<file path=ppt/tags/tag10.xml><?xml version="1.0" encoding="utf-8"?>
<p:tagLst xmlns:p="http://schemas.openxmlformats.org/presentationml/2006/main">
  <p:tag name="KSO_WM_DIAGRAM_VIRTUALLY_FRAME" val="{&quot;height&quot;:307.55629921259845,&quot;left&quot;:216.15,&quot;top&quot;:29.1,&quot;width&quot;:455.45141732283463}"/>
</p:tagLst>
</file>

<file path=ppt/tags/tag11.xml><?xml version="1.0" encoding="utf-8"?>
<p:tagLst xmlns:p="http://schemas.openxmlformats.org/presentationml/2006/main">
  <p:tag name="KSO_WM_DIAGRAM_VIRTUALLY_FRAME" val="{&quot;height&quot;:318.6,&quot;left&quot;:9.3,&quot;top&quot;:59.55,&quot;width&quot;:700.5}"/>
</p:tagLst>
</file>

<file path=ppt/tags/tag12.xml><?xml version="1.0" encoding="utf-8"?>
<p:tagLst xmlns:p="http://schemas.openxmlformats.org/presentationml/2006/main">
  <p:tag name="KSO_WM_DIAGRAM_VIRTUALLY_FRAME" val="{&quot;height&quot;:318.6,&quot;left&quot;:9.3,&quot;top&quot;:59.55,&quot;width&quot;:700.5}"/>
</p:tagLst>
</file>

<file path=ppt/tags/tag13.xml><?xml version="1.0" encoding="utf-8"?>
<p:tagLst xmlns:p="http://schemas.openxmlformats.org/presentationml/2006/main">
  <p:tag name="KSO_WM_DIAGRAM_VIRTUALLY_FRAME" val="{&quot;height&quot;:318.6,&quot;left&quot;:9.3,&quot;top&quot;:59.55,&quot;width&quot;:700.5}"/>
</p:tagLst>
</file>

<file path=ppt/tags/tag14.xml><?xml version="1.0" encoding="utf-8"?>
<p:tagLst xmlns:p="http://schemas.openxmlformats.org/presentationml/2006/main">
  <p:tag name="KSO_WM_DIAGRAM_VIRTUALLY_FRAME" val="{&quot;height&quot;:318.6,&quot;left&quot;:9.3,&quot;top&quot;:59.55,&quot;width&quot;:700.5}"/>
</p:tagLst>
</file>

<file path=ppt/tags/tag15.xml><?xml version="1.0" encoding="utf-8"?>
<p:tagLst xmlns:p="http://schemas.openxmlformats.org/presentationml/2006/main">
  <p:tag name="KSO_WM_DIAGRAM_VIRTUALLY_FRAME" val="{&quot;height&quot;:318.6,&quot;left&quot;:9.3,&quot;top&quot;:59.55,&quot;width&quot;:700.5}"/>
</p:tagLst>
</file>

<file path=ppt/tags/tag16.xml><?xml version="1.0" encoding="utf-8"?>
<p:tagLst xmlns:p="http://schemas.openxmlformats.org/presentationml/2006/main">
  <p:tag name="KSO_WM_DIAGRAM_VIRTUALLY_FRAME" val="{&quot;height&quot;:318.6,&quot;left&quot;:9.3,&quot;top&quot;:59.55,&quot;width&quot;:700.5}"/>
</p:tagLst>
</file>

<file path=ppt/tags/tag17.xml><?xml version="1.0" encoding="utf-8"?>
<p:tagLst xmlns:p="http://schemas.openxmlformats.org/presentationml/2006/main">
  <p:tag name="KSO_WM_DIAGRAM_VIRTUALLY_FRAME" val="{&quot;height&quot;:318.6,&quot;left&quot;:9.3,&quot;top&quot;:59.55,&quot;width&quot;:700.5}"/>
</p:tagLst>
</file>

<file path=ppt/tags/tag18.xml><?xml version="1.0" encoding="utf-8"?>
<p:tagLst xmlns:p="http://schemas.openxmlformats.org/presentationml/2006/main">
  <p:tag name="KSO_WM_DIAGRAM_VIRTUALLY_FRAME" val="{&quot;height&quot;:318.6,&quot;left&quot;:9.3,&quot;top&quot;:59.55,&quot;width&quot;:700.5}"/>
</p:tagLst>
</file>

<file path=ppt/tags/tag19.xml><?xml version="1.0" encoding="utf-8"?>
<p:tagLst xmlns:p="http://schemas.openxmlformats.org/presentationml/2006/main">
  <p:tag name="KSO_WM_DIAGRAM_VIRTUALLY_FRAME" val="{&quot;height&quot;:318.6,&quot;left&quot;:9.3,&quot;top&quot;:59.55,&quot;width&quot;:700.5}"/>
</p:tagLst>
</file>

<file path=ppt/tags/tag20.xml><?xml version="1.0" encoding="utf-8"?>
<p:tagLst xmlns:p="http://schemas.openxmlformats.org/presentationml/2006/main">
  <p:tag name="KSO_WM_DIAGRAM_VIRTUALLY_FRAME" val="{&quot;height&quot;:318.6,&quot;left&quot;:9.3,&quot;top&quot;:59.55,&quot;width&quot;:700.5}"/>
</p:tagLst>
</file>

<file path=ppt/tags/tag21.xml><?xml version="1.0" encoding="utf-8"?>
<p:tagLst xmlns:p="http://schemas.openxmlformats.org/presentationml/2006/main">
  <p:tag name="KSO_WM_DIAGRAM_VIRTUALLY_FRAME" val="{&quot;height&quot;:318.6,&quot;left&quot;:9.3,&quot;top&quot;:59.55,&quot;width&quot;:700.5}"/>
</p:tagLst>
</file>

<file path=ppt/tags/tag22.xml><?xml version="1.0" encoding="utf-8"?>
<p:tagLst xmlns:p="http://schemas.openxmlformats.org/presentationml/2006/main">
  <p:tag name="KSO_WM_DIAGRAM_VIRTUALLY_FRAME" val="{&quot;height&quot;:318.6,&quot;left&quot;:9.3,&quot;top&quot;:59.55,&quot;width&quot;:700.5}"/>
</p:tagLst>
</file>

<file path=ppt/tags/tag23.xml><?xml version="1.0" encoding="utf-8"?>
<p:tagLst xmlns:p="http://schemas.openxmlformats.org/presentationml/2006/main">
  <p:tag name="TABLE_ENDDRAG_ORIGIN_RECT" val="668*170"/>
  <p:tag name="TABLE_ENDDRAG_RECT" val="26*54*668*170"/>
</p:tagLst>
</file>

<file path=ppt/tags/tag24.xml><?xml version="1.0" encoding="utf-8"?>
<p:tagLst xmlns:p="http://schemas.openxmlformats.org/presentationml/2006/main">
  <p:tag name="TABLE_ENDDRAG_ORIGIN_RECT" val="668*108"/>
  <p:tag name="TABLE_ENDDRAG_RECT" val="26*262*668*108"/>
</p:tagLst>
</file>

<file path=ppt/theme/theme1.xml><?xml version="1.0" encoding="utf-8"?>
<a:theme xmlns:a="http://schemas.openxmlformats.org/drawingml/2006/main" name="Office Theme">
  <a:themeElements>
    <a:clrScheme name="自定义 892">
      <a:dk1>
        <a:srgbClr val="7F7F7F"/>
      </a:dk1>
      <a:lt1>
        <a:srgbClr val="FFFFFF"/>
      </a:lt1>
      <a:dk2>
        <a:srgbClr val="494B4E"/>
      </a:dk2>
      <a:lt2>
        <a:srgbClr val="FFFFFF"/>
      </a:lt2>
      <a:accent1>
        <a:srgbClr val="494B4E"/>
      </a:accent1>
      <a:accent2>
        <a:srgbClr val="000000"/>
      </a:accent2>
      <a:accent3>
        <a:srgbClr val="4B5050"/>
      </a:accent3>
      <a:accent4>
        <a:srgbClr val="91969B"/>
      </a:accent4>
      <a:accent5>
        <a:srgbClr val="4B5050"/>
      </a:accent5>
      <a:accent6>
        <a:srgbClr val="91969B"/>
      </a:accent6>
      <a:hlink>
        <a:srgbClr val="F33B48"/>
      </a:hlink>
      <a:folHlink>
        <a:srgbClr val="FFC000"/>
      </a:folHlink>
    </a:clrScheme>
    <a:fontScheme name="标准1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9866</Words>
  <Application>WPS Presentation</Application>
  <PresentationFormat>全屏显示(16:9)</PresentationFormat>
  <Paragraphs>354</Paragraphs>
  <Slides>23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5" baseType="lpstr">
      <vt:lpstr>Arial</vt:lpstr>
      <vt:lpstr>SimSun</vt:lpstr>
      <vt:lpstr>Wingdings</vt:lpstr>
      <vt:lpstr>Calibri</vt:lpstr>
      <vt:lpstr>Wingdings</vt:lpstr>
      <vt:lpstr>Lato Light</vt:lpstr>
      <vt:lpstr>Segoe Print</vt:lpstr>
      <vt:lpstr>MS PGothic</vt:lpstr>
      <vt:lpstr>Times New Roman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Eric羊</dc:creator>
  <cp:lastModifiedBy>Abhisha JL</cp:lastModifiedBy>
  <cp:revision>111</cp:revision>
  <dcterms:created xsi:type="dcterms:W3CDTF">2017-05-02T06:39:00Z</dcterms:created>
  <dcterms:modified xsi:type="dcterms:W3CDTF">2026-09-21T18:34:47Z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3910FAA80B7749E1A40367E77FC52F90_13</vt:lpwstr>
  </property>
</Properties>
</file>